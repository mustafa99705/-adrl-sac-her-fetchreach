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embeddedFontLst>
    <p:embeddedFont>
      <p:font typeface="IBM Plex Sans"/>
      <p:regular r:id="rId7"/>
      <p:bold r:id="rId8"/>
      <p:italic r:id="rId9"/>
      <p:boldItalic r:id="rId10"/>
    </p:embeddedFont>
    <p:embeddedFont>
      <p:font typeface="Lora"/>
      <p:regular r:id="rId11"/>
      <p:bold r:id="rId12"/>
      <p:italic r:id="rId13"/>
      <p:boldItalic r:id="rId14"/>
    </p:embeddedFont>
    <p:embeddedFont>
      <p:font typeface="IBM Plex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 orient="horz"/>
        <p:guide pos="953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BMPlexSans-regular.fntdata"/><Relationship Id="rId8" Type="http://schemas.openxmlformats.org/officeDocument/2006/relationships/font" Target="fonts/IBMPlexSans-bold.fntdata"/><Relationship Id="rId9" Type="http://schemas.openxmlformats.org/officeDocument/2006/relationships/font" Target="fonts/IBMPlexSans-italic.fntdata"/><Relationship Id="rId10" Type="http://schemas.openxmlformats.org/officeDocument/2006/relationships/font" Target="fonts/IBMPlexSans-boldItalic.fntdata"/><Relationship Id="rId11" Type="http://schemas.openxmlformats.org/officeDocument/2006/relationships/font" Target="fonts/Lora-regular.fntdata"/><Relationship Id="rId12" Type="http://schemas.openxmlformats.org/officeDocument/2006/relationships/font" Target="fonts/Lora-bold.fntdata"/><Relationship Id="rId13" Type="http://schemas.openxmlformats.org/officeDocument/2006/relationships/font" Target="fonts/Lora-italic.fntdata"/><Relationship Id="rId14" Type="http://schemas.openxmlformats.org/officeDocument/2006/relationships/font" Target="fonts/Lora-boldItalic.fntdata"/><Relationship Id="rId15" Type="http://schemas.openxmlformats.org/officeDocument/2006/relationships/font" Target="fonts/IBMPlexMono-regular.fntdata"/><Relationship Id="rId16" Type="http://schemas.openxmlformats.org/officeDocument/2006/relationships/font" Target="fonts/IBMPlexMono-bold.fntdata"/><Relationship Id="rId17" Type="http://schemas.openxmlformats.org/officeDocument/2006/relationships/font" Target="fonts/IBMPlexMono-italic.fntdata"/><Relationship Id="rId18" Type="http://schemas.openxmlformats.org/officeDocument/2006/relationships/font" Target="fonts/IBMPlex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50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f0b5ab663_0_68:notes"/>
          <p:cNvSpPr/>
          <p:nvPr>
            <p:ph idx="2" type="sldImg"/>
          </p:nvPr>
        </p:nvSpPr>
        <p:spPr>
          <a:xfrm>
            <a:off x="2216650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f0b5ab66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92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9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3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880000" y="19737750"/>
            <a:ext cx="18073200" cy="2247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52000" y="15264000"/>
            <a:ext cx="11342700" cy="1649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8500" y="536200"/>
            <a:ext cx="214215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1" lang="de" sz="8000">
                <a:latin typeface="IBM Plex Mono"/>
                <a:ea typeface="IBM Plex Mono"/>
                <a:cs typeface="IBM Plex Mono"/>
                <a:sym typeface="IBM Plex Mono"/>
              </a:rPr>
              <a:t>When and Why Does Hindsight Experience Replay Improve Soft Actor-Critic under Sparse Rewards?</a:t>
            </a:r>
            <a:endParaRPr b="1" sz="8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t/>
            </a:r>
            <a:endParaRPr b="1" sz="80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8500" y="4466975"/>
            <a:ext cx="2970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Author(s): Mustafa Asfari, Mohammad Alkhozami</a:t>
            </a:r>
            <a:endParaRPr sz="4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2000" y="15264000"/>
            <a:ext cx="11352600" cy="985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5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Approach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1880000" y="6602400"/>
            <a:ext cx="18073200" cy="12942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000" y="-18000"/>
            <a:ext cx="30312001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1880000" y="6602825"/>
            <a:ext cx="180732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 &amp; Problem Setting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52000" y="32022200"/>
            <a:ext cx="11354400" cy="1018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2000" y="32022200"/>
            <a:ext cx="113526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Works</a:t>
            </a:r>
            <a:endParaRPr b="1" sz="5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40000" y="32986772"/>
            <a:ext cx="109842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5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BM Plex Sans"/>
              <a:buChar char="●"/>
            </a:pPr>
            <a:r>
              <a:rPr lang="de" sz="4200">
                <a:latin typeface="IBM Plex Sans"/>
                <a:ea typeface="IBM Plex Sans"/>
                <a:cs typeface="IBM Plex Sans"/>
                <a:sym typeface="IBM Plex Sans"/>
              </a:rPr>
              <a:t>Cleaner curriculum metric (real-goal-only transitions) for Push </a:t>
            </a:r>
            <a:endParaRPr sz="4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95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BM Plex Sans"/>
              <a:buChar char="●"/>
            </a:pPr>
            <a:r>
              <a:rPr lang="de" sz="4200">
                <a:latin typeface="IBM Plex Sans"/>
                <a:ea typeface="IBM Plex Sans"/>
                <a:cs typeface="IBM Plex Sans"/>
                <a:sym typeface="IBM Plex Sans"/>
              </a:rPr>
              <a:t>Test on a third, harder Fetch task </a:t>
            </a:r>
            <a:endParaRPr sz="4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95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BM Plex Sans"/>
              <a:buChar char="●"/>
            </a:pPr>
            <a:r>
              <a:rPr lang="de" sz="4200">
                <a:latin typeface="IBM Plex Sans"/>
                <a:ea typeface="IBM Plex Sans"/>
                <a:cs typeface="IBM Plex Sans"/>
                <a:sym typeface="IBM Plex Sans"/>
              </a:rPr>
              <a:t>Formal significance testing across seeds </a:t>
            </a:r>
            <a:endParaRPr sz="4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1880000" y="19737750"/>
            <a:ext cx="18073200" cy="985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Insights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21175" y="6608313"/>
            <a:ext cx="1060500" cy="9390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52000" y="6602400"/>
            <a:ext cx="11342700" cy="839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52000" y="6602400"/>
            <a:ext cx="113427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TL;DR</a:t>
            </a:r>
            <a:endParaRPr b="1" sz="5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40000" y="8042400"/>
            <a:ext cx="86139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HER turns SAC's sparse-reward failure into success — and the harder the task, the bigger the difference.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432000" y="67068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378600" y="8042400"/>
            <a:ext cx="8613900" cy="115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300">
                <a:latin typeface="IBM Plex Sans"/>
                <a:ea typeface="IBM Plex Sans"/>
                <a:cs typeface="IBM Plex Sans"/>
                <a:sym typeface="IBM Plex Sans"/>
              </a:rPr>
              <a:t>Motivation</a:t>
            </a:r>
            <a:endParaRPr sz="4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IBM Plex Sans"/>
              <a:buChar char="●"/>
            </a:pPr>
            <a:r>
              <a:rPr lang="de" sz="4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Sparse, binary rewards are the most natural way to specify a robotic task — but they give the agent no signal on how to improve (Andrychowicz et al., 2017)</a:t>
            </a:r>
            <a:endParaRPr sz="4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IBM Plex Sans"/>
              <a:buChar char="●"/>
            </a:pPr>
            <a:r>
              <a:rPr lang="de" sz="4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HER is known to help under sparse rewards — but when it matters most and why it works is unclear</a:t>
            </a:r>
            <a:endParaRPr sz="4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40000" y="16704000"/>
            <a:ext cx="10731600" cy="9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4 conditions (dense / dense+HER / sparse / sparse+HER) × 2 tasks: FetchReach (easy) vs FetchPush (hard)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SAC (Stable-Baselines3) + HerReplayBuffer, identical hyperparameters everywhere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70 runs total, 5–10 seeds/condition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Track SAC's entropy coefficient α + goal-distance distribution to probe the mechanism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Ablation: HER relabeling ratio n_sampled_goal ∈ {1, 4, 8}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2060000" y="19833641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2060000" y="67068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432000" y="153720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32000" y="321242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12151200" y="21072625"/>
            <a:ext cx="175308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Easy task: all 4 conditions succeed; HER just 2.75× faster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Hard task: sparse SAC never learns (5–6%); sparse+HER reaches 91% mean (99% median)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Why: without HER, α collapses ~21× before the task is solved (false convergence); with HER, α stays 8× higher → sustained exploration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More relabeling saturates, doesn't compound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1670100" y="8042400"/>
            <a:ext cx="7914600" cy="4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300">
                <a:latin typeface="IBM Plex Sans"/>
                <a:ea typeface="IBM Plex Sans"/>
                <a:cs typeface="IBM Plex Sans"/>
                <a:sym typeface="IBM Plex Sans"/>
              </a:rPr>
              <a:t>Problem Setting</a:t>
            </a:r>
            <a:endParaRPr sz="4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IBM Plex Sans"/>
              <a:buChar char="●"/>
            </a:pPr>
            <a:r>
              <a:rPr lang="de" sz="4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 HER's benefit scale with task difficulty, and what training-dynamics mechanism drives it?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000" y="5985975"/>
            <a:ext cx="30312001" cy="2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42553175"/>
            <a:ext cx="30276000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7600" y="686825"/>
            <a:ext cx="7378207" cy="21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3113" y="687600"/>
            <a:ext cx="1538712" cy="21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285600" y="5153150"/>
            <a:ext cx="2970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100">
                <a:solidFill>
                  <a:srgbClr val="9E9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Poster Presentations in context of ADRL Lecture </a:t>
            </a:r>
            <a:endParaRPr b="1" sz="4100">
              <a:solidFill>
                <a:srgbClr val="9E9E9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4" name="Picture 83" descr="fig1_combin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00" y="11372300"/>
            <a:ext cx="10766700" cy="3427634"/>
          </a:xfrm>
          <a:prstGeom prst="rect">
            <a:avLst/>
          </a:prstGeom>
        </p:spPr>
      </p:pic>
      <p:pic>
        <p:nvPicPr>
          <p:cNvPr id="85" name="Picture 84" descr="fig4_combin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51200" y="26190325"/>
            <a:ext cx="17530800" cy="5581248"/>
          </a:xfrm>
          <a:prstGeom prst="rect">
            <a:avLst/>
          </a:prstGeom>
        </p:spPr>
      </p:pic>
      <p:pic>
        <p:nvPicPr>
          <p:cNvPr id="86" name="Picture 85" descr="qr_rep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00" y="36345172"/>
            <a:ext cx="2011680" cy="201168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2751680" y="36345172"/>
            <a:ext cx="856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394"/>
                </a:solidFill>
              </a:rPr>
              <a:t>Code, data &amp; full report</a:t>
            </a:r>
          </a:p>
          <a:p>
            <a:r>
              <a:rPr sz="1100">
                <a:solidFill>
                  <a:srgbClr val="404040"/>
                </a:solidFill>
              </a:rPr>
              <a:t>github.com/mustafa99705/-adrl-sac-her-fetchreach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