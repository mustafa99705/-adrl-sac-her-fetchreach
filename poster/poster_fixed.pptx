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2804000" cx="30276000"/>
  <p:notesSz cx="6858000" cy="9144000"/>
  <p:embeddedFontLst>
    <p:embeddedFont>
      <p:font typeface="IBM Plex Sans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IBM Plex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482">
          <p15:clr>
            <a:srgbClr val="A4A3A4"/>
          </p15:clr>
        </p15:guide>
        <p15:guide id="2" pos="95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482" orient="horz"/>
        <p:guide pos="953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BMPlexSans-regular.fntdata"/><Relationship Id="rId8" Type="http://schemas.openxmlformats.org/officeDocument/2006/relationships/font" Target="fonts/IBMPlexSans-bold.fntdata"/><Relationship Id="rId9" Type="http://schemas.openxmlformats.org/officeDocument/2006/relationships/font" Target="fonts/IBMPlexSans-italic.fntdata"/><Relationship Id="rId10" Type="http://schemas.openxmlformats.org/officeDocument/2006/relationships/font" Target="fonts/IBMPlexSans-boldItalic.fntdata"/><Relationship Id="rId11" Type="http://schemas.openxmlformats.org/officeDocument/2006/relationships/font" Target="fonts/Lora-regular.fntdata"/><Relationship Id="rId12" Type="http://schemas.openxmlformats.org/officeDocument/2006/relationships/font" Target="fonts/Lora-bold.fntdata"/><Relationship Id="rId13" Type="http://schemas.openxmlformats.org/officeDocument/2006/relationships/font" Target="fonts/Lora-italic.fntdata"/><Relationship Id="rId14" Type="http://schemas.openxmlformats.org/officeDocument/2006/relationships/font" Target="fonts/Lora-boldItalic.fntdata"/><Relationship Id="rId15" Type="http://schemas.openxmlformats.org/officeDocument/2006/relationships/font" Target="fonts/IBMPlexMono-regular.fntdata"/><Relationship Id="rId16" Type="http://schemas.openxmlformats.org/officeDocument/2006/relationships/font" Target="fonts/IBMPlexMono-bold.fntdata"/><Relationship Id="rId17" Type="http://schemas.openxmlformats.org/officeDocument/2006/relationships/font" Target="fonts/IBMPlexMono-italic.fntdata"/><Relationship Id="rId18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ef0b5ab663_0_68:notes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ef0b5ab66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032074" y="6196323"/>
            <a:ext cx="28212000" cy="17081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1pPr>
            <a:lvl2pPr lvl="1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032046" y="23585474"/>
            <a:ext cx="28212000" cy="6596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032046" y="17899287"/>
            <a:ext cx="28212000" cy="70053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032046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6000191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032046" y="4623681"/>
            <a:ext cx="9297300" cy="62892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032046" y="11564195"/>
            <a:ext cx="9297300" cy="26459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635000" lvl="0" marL="4572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623229" y="3746130"/>
            <a:ext cx="21084000" cy="34043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5138000" y="-1040"/>
            <a:ext cx="15138000" cy="4280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7600" lIns="487600" spcFirstLastPara="1" rIns="487600" wrap="square" tIns="4876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879077" y="10262433"/>
            <a:ext cx="13393800" cy="12335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879077" y="23327077"/>
            <a:ext cx="13393800" cy="102783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6354801" y="6025723"/>
            <a:ext cx="12704400" cy="307506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032046" y="35206675"/>
            <a:ext cx="19862100" cy="50355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032046" y="9205128"/>
            <a:ext cx="28212000" cy="163404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032046" y="26232690"/>
            <a:ext cx="28212000" cy="108249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indent="-704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2pPr>
            <a:lvl3pPr indent="-704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3pPr>
            <a:lvl4pPr indent="-704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4pPr>
            <a:lvl5pPr indent="-704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5pPr>
            <a:lvl6pPr indent="-704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6pPr>
            <a:lvl7pPr indent="-704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7pPr>
            <a:lvl8pPr indent="-704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8pPr>
            <a:lvl9pPr indent="-704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r">
              <a:buNone/>
              <a:defRPr sz="5300">
                <a:solidFill>
                  <a:schemeClr val="dk2"/>
                </a:solidFill>
              </a:defRPr>
            </a:lvl1pPr>
            <a:lvl2pPr lvl="1" algn="r">
              <a:buNone/>
              <a:defRPr sz="5300">
                <a:solidFill>
                  <a:schemeClr val="dk2"/>
                </a:solidFill>
              </a:defRPr>
            </a:lvl2pPr>
            <a:lvl3pPr lvl="2" algn="r">
              <a:buNone/>
              <a:defRPr sz="5300">
                <a:solidFill>
                  <a:schemeClr val="dk2"/>
                </a:solidFill>
              </a:defRPr>
            </a:lvl3pPr>
            <a:lvl4pPr lvl="3" algn="r">
              <a:buNone/>
              <a:defRPr sz="5300">
                <a:solidFill>
                  <a:schemeClr val="dk2"/>
                </a:solidFill>
              </a:defRPr>
            </a:lvl4pPr>
            <a:lvl5pPr lvl="4" algn="r">
              <a:buNone/>
              <a:defRPr sz="5300">
                <a:solidFill>
                  <a:schemeClr val="dk2"/>
                </a:solidFill>
              </a:defRPr>
            </a:lvl5pPr>
            <a:lvl6pPr lvl="5" algn="r">
              <a:buNone/>
              <a:defRPr sz="5300">
                <a:solidFill>
                  <a:schemeClr val="dk2"/>
                </a:solidFill>
              </a:defRPr>
            </a:lvl6pPr>
            <a:lvl7pPr lvl="6" algn="r">
              <a:buNone/>
              <a:defRPr sz="5300">
                <a:solidFill>
                  <a:schemeClr val="dk2"/>
                </a:solidFill>
              </a:defRPr>
            </a:lvl7pPr>
            <a:lvl8pPr lvl="7" algn="r">
              <a:buNone/>
              <a:defRPr sz="5300">
                <a:solidFill>
                  <a:schemeClr val="dk2"/>
                </a:solidFill>
              </a:defRPr>
            </a:lvl8pPr>
            <a:lvl9pPr lvl="8" algn="r">
              <a:buNone/>
              <a:defRPr sz="5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880000" y="19737750"/>
            <a:ext cx="18073200" cy="22473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252000" y="15264000"/>
            <a:ext cx="11342700" cy="16491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48500" y="536200"/>
            <a:ext cx="214215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rPr b="1" lang="de" sz="8000">
                <a:latin typeface="IBM Plex Mono"/>
                <a:ea typeface="IBM Plex Mono"/>
                <a:cs typeface="IBM Plex Mono"/>
                <a:sym typeface="IBM Plex Mono"/>
              </a:rPr>
              <a:t>When and Why Does Hindsight Experience Replay Improve Soft Actor-Critic under Sparse Rewards?</a:t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t/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48500" y="4466975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Author(s): Mustafa Asfari, Mohammad Alkhozami</a:t>
            </a:r>
            <a:endParaRPr sz="4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2000" y="15264000"/>
            <a:ext cx="113526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de" sz="5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Approach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11880000" y="6602400"/>
            <a:ext cx="18073200" cy="12942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-18000"/>
            <a:ext cx="30312001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11880000" y="6602825"/>
            <a:ext cx="180732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 &amp; Problem Setting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252000" y="32022200"/>
            <a:ext cx="11354400" cy="10189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252000" y="32022200"/>
            <a:ext cx="113526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Works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0000" y="32986772"/>
            <a:ext cx="10984200" cy="31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Cleaner curriculum metric (real-goal-only transitions) for Push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Test on a third, harder Fetch task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Formal significance testing across seeds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1880000" y="19737750"/>
            <a:ext cx="180732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Insights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421175" y="6608313"/>
            <a:ext cx="1060500" cy="9390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252000" y="6602400"/>
            <a:ext cx="11342700" cy="8396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252000" y="6602400"/>
            <a:ext cx="113427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TL;DR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540000" y="8042400"/>
            <a:ext cx="86139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HER turns SAC's sparse-reward failure into success — and the harder the task, the bigger the difference.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432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2378600" y="8042400"/>
            <a:ext cx="8613900" cy="115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Motivation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Motivation: Sparse, binary rewards are the most natural way to specify a robotic task — but they give the agent no signal on how to improve (Andrychowicz et al., 2017)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Motivation: HER is known to help under sparse rewards — but when it matters most and why it works is unclear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540000" y="16704000"/>
            <a:ext cx="10731600" cy="9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4 conditions (dense / dense+HER / sparse / sparse+HER) × 2 tasks: FetchReach (easy) vs FetchPush (hard)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SAC (Stable-Baselines3) + HerReplayBuffer, identical hyperparameters everywhere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70 runs total, 5–10 seeds/condition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Track SAC's entropy coefficient α + goal-distance distribution to probe the mechanism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Ablation: HER relabeling ratio n_sampled_goal ∈ {1, 4, 8}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3" name="Google Shape;73;p13"/>
          <p:cNvSpPr/>
          <p:nvPr/>
        </p:nvSpPr>
        <p:spPr>
          <a:xfrm>
            <a:off x="12060000" y="19833641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12060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432000" y="153720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432000" y="321242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7" name="Google Shape;77;p13"/>
          <p:cNvSpPr txBox="1"/>
          <p:nvPr/>
        </p:nvSpPr>
        <p:spPr>
          <a:xfrm>
            <a:off x="12151200" y="21072625"/>
            <a:ext cx="175308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Easy task: all 4 conditions succeed; HER just 2.75× faster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Hard task: sparse SAC never learns (5–6%); sparse+HER reaches 91% mean (99% median)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Why: without HER, α collapses ~21× before the task is solved (false convergence); with HER, α stays 8× higher → sustained exploration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More relabeling saturates, doesn't compound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21670100" y="8042400"/>
            <a:ext cx="7914600" cy="46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Problem Setting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Setting: Does HER's benefit scale with task difficulty, and what training-dynamics mechanism drives it?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5985975"/>
            <a:ext cx="30312001" cy="2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" y="42553175"/>
            <a:ext cx="3027600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17600" y="686825"/>
            <a:ext cx="7378207" cy="21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33113" y="687600"/>
            <a:ext cx="1538712" cy="21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3"/>
          <p:cNvSpPr txBox="1"/>
          <p:nvPr/>
        </p:nvSpPr>
        <p:spPr>
          <a:xfrm>
            <a:off x="285600" y="5153150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9E9E9E"/>
                </a:solidFill>
                <a:latin typeface="IBM Plex Sans"/>
                <a:ea typeface="IBM Plex Sans"/>
                <a:cs typeface="IBM Plex Sans"/>
                <a:sym typeface="IBM Plex Sans"/>
              </a:rPr>
              <a:t>Poster Presentations in context of “TODO” Lecture </a:t>
            </a:r>
            <a:endParaRPr b="1" sz="4100">
              <a:solidFill>
                <a:srgbClr val="9E9E9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4" name="Picture 83" descr="fig1_combin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11372300"/>
            <a:ext cx="10766700" cy="3427634"/>
          </a:xfrm>
          <a:prstGeom prst="rect">
            <a:avLst/>
          </a:prstGeom>
        </p:spPr>
      </p:pic>
      <p:pic>
        <p:nvPicPr>
          <p:cNvPr id="85" name="Picture 84" descr="fig4_comb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51200" y="26190325"/>
            <a:ext cx="17530800" cy="5581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