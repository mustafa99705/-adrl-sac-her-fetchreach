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</p:sldIdLst>
  <p:sldSz cy="42804000" cx="30276000"/>
  <p:notesSz cx="6858000" cy="9144000"/>
  <p:embeddedFontLst>
    <p:embeddedFont>
      <p:font typeface="IBM Plex Sans"/>
      <p:regular r:id="rId7"/>
      <p:bold r:id="rId8"/>
      <p:italic r:id="rId9"/>
      <p:boldItalic r:id="rId10"/>
    </p:embeddedFont>
    <p:embeddedFont>
      <p:font typeface="Lora"/>
      <p:regular r:id="rId11"/>
      <p:bold r:id="rId12"/>
      <p:italic r:id="rId13"/>
      <p:boldItalic r:id="rId14"/>
    </p:embeddedFont>
    <p:embeddedFont>
      <p:font typeface="IBM Plex Mono"/>
      <p:regular r:id="rId15"/>
      <p:bold r:id="rId16"/>
      <p:italic r:id="rId17"/>
      <p:bold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3482">
          <p15:clr>
            <a:srgbClr val="A4A3A4"/>
          </p15:clr>
        </p15:guide>
        <p15:guide id="2" pos="953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3482" orient="horz"/>
        <p:guide pos="9536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IBMPlexSans-regular.fntdata"/><Relationship Id="rId8" Type="http://schemas.openxmlformats.org/officeDocument/2006/relationships/font" Target="fonts/IBMPlexSans-bold.fntdata"/><Relationship Id="rId9" Type="http://schemas.openxmlformats.org/officeDocument/2006/relationships/font" Target="fonts/IBMPlexSans-italic.fntdata"/><Relationship Id="rId10" Type="http://schemas.openxmlformats.org/officeDocument/2006/relationships/font" Target="fonts/IBMPlexSans-boldItalic.fntdata"/><Relationship Id="rId11" Type="http://schemas.openxmlformats.org/officeDocument/2006/relationships/font" Target="fonts/Lora-regular.fntdata"/><Relationship Id="rId12" Type="http://schemas.openxmlformats.org/officeDocument/2006/relationships/font" Target="fonts/Lora-bold.fntdata"/><Relationship Id="rId13" Type="http://schemas.openxmlformats.org/officeDocument/2006/relationships/font" Target="fonts/Lora-italic.fntdata"/><Relationship Id="rId14" Type="http://schemas.openxmlformats.org/officeDocument/2006/relationships/font" Target="fonts/Lora-boldItalic.fntdata"/><Relationship Id="rId15" Type="http://schemas.openxmlformats.org/officeDocument/2006/relationships/font" Target="fonts/IBMPlexMono-regular.fntdata"/><Relationship Id="rId16" Type="http://schemas.openxmlformats.org/officeDocument/2006/relationships/font" Target="fonts/IBMPlexMono-bold.fntdata"/><Relationship Id="rId17" Type="http://schemas.openxmlformats.org/officeDocument/2006/relationships/font" Target="fonts/IBMPlexMono-italic.fntdata"/><Relationship Id="rId18" Type="http://schemas.openxmlformats.org/officeDocument/2006/relationships/font" Target="fonts/IBMPlexMono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216650" y="685800"/>
            <a:ext cx="2425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ef0b5ab663_0_68:notes"/>
          <p:cNvSpPr/>
          <p:nvPr>
            <p:ph idx="2" type="sldImg"/>
          </p:nvPr>
        </p:nvSpPr>
        <p:spPr>
          <a:xfrm>
            <a:off x="2216650" y="685800"/>
            <a:ext cx="2425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ef0b5ab663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1032074" y="6196323"/>
            <a:ext cx="28212000" cy="170817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1pPr>
            <a:lvl2pPr lvl="1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2pPr>
            <a:lvl3pPr lvl="2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3pPr>
            <a:lvl4pPr lvl="3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4pPr>
            <a:lvl5pPr lvl="4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5pPr>
            <a:lvl6pPr lvl="5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6pPr>
            <a:lvl7pPr lvl="6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7pPr>
            <a:lvl8pPr lvl="7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8pPr>
            <a:lvl9pPr lvl="8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1032046" y="23585474"/>
            <a:ext cx="28212000" cy="65961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1032046" y="17899287"/>
            <a:ext cx="28212000" cy="70053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1pPr>
            <a:lvl2pPr lvl="1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2pPr>
            <a:lvl3pPr lvl="2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3pPr>
            <a:lvl4pPr lvl="3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4pPr>
            <a:lvl5pPr lvl="4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5pPr>
            <a:lvl6pPr lvl="5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6pPr>
            <a:lvl7pPr lvl="6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7pPr>
            <a:lvl8pPr lvl="7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8pPr>
            <a:lvl9pPr lvl="8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1032046" y="9590851"/>
            <a:ext cx="28212000" cy="284310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838200" lvl="0" marL="457200">
              <a:spcBef>
                <a:spcPts val="0"/>
              </a:spcBef>
              <a:spcAft>
                <a:spcPts val="0"/>
              </a:spcAft>
              <a:buSzPts val="9600"/>
              <a:buChar char="●"/>
              <a:defRPr/>
            </a:lvl1pPr>
            <a:lvl2pPr indent="-704850" lvl="1" marL="9144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2pPr>
            <a:lvl3pPr indent="-704850" lvl="2" marL="13716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3pPr>
            <a:lvl4pPr indent="-704850" lvl="3" marL="18288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4pPr>
            <a:lvl5pPr indent="-704850" lvl="4" marL="22860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5pPr>
            <a:lvl6pPr indent="-704850" lvl="5" marL="27432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6pPr>
            <a:lvl7pPr indent="-704850" lvl="6" marL="32004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7pPr>
            <a:lvl8pPr indent="-704850" lvl="7" marL="36576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8pPr>
            <a:lvl9pPr indent="-704850" lvl="8" marL="41148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1032046" y="9590851"/>
            <a:ext cx="13243800" cy="284310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704850" lvl="0" marL="457200">
              <a:spcBef>
                <a:spcPts val="0"/>
              </a:spcBef>
              <a:spcAft>
                <a:spcPts val="0"/>
              </a:spcAft>
              <a:buSzPts val="7500"/>
              <a:buChar char="●"/>
              <a:defRPr sz="7500"/>
            </a:lvl1pPr>
            <a:lvl2pPr indent="-635000" lvl="1" marL="9144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indent="-635000" lvl="2" marL="13716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indent="-635000" lvl="3" marL="18288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indent="-635000" lvl="4" marL="2286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indent="-635000" lvl="5" marL="27432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indent="-635000" lvl="6" marL="32004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indent="-635000" lvl="7" marL="36576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indent="-635000" lvl="8" marL="41148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16000191" y="9590851"/>
            <a:ext cx="13243800" cy="284310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704850" lvl="0" marL="457200">
              <a:spcBef>
                <a:spcPts val="0"/>
              </a:spcBef>
              <a:spcAft>
                <a:spcPts val="0"/>
              </a:spcAft>
              <a:buSzPts val="7500"/>
              <a:buChar char="●"/>
              <a:defRPr sz="7500"/>
            </a:lvl1pPr>
            <a:lvl2pPr indent="-635000" lvl="1" marL="9144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indent="-635000" lvl="2" marL="13716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indent="-635000" lvl="3" marL="18288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indent="-635000" lvl="4" marL="2286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indent="-635000" lvl="5" marL="27432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indent="-635000" lvl="6" marL="32004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indent="-635000" lvl="7" marL="36576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indent="-635000" lvl="8" marL="41148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1032046" y="4623681"/>
            <a:ext cx="9297300" cy="62892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1pPr>
            <a:lvl2pPr lvl="1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2pPr>
            <a:lvl3pPr lvl="2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3pPr>
            <a:lvl4pPr lvl="3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4pPr>
            <a:lvl5pPr lvl="4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5pPr>
            <a:lvl6pPr lvl="5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6pPr>
            <a:lvl7pPr lvl="6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7pPr>
            <a:lvl8pPr lvl="7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8pPr>
            <a:lvl9pPr lvl="8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1032046" y="11564195"/>
            <a:ext cx="9297300" cy="264591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635000" lvl="0" marL="4572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1pPr>
            <a:lvl2pPr indent="-635000" lvl="1" marL="9144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indent="-635000" lvl="2" marL="13716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indent="-635000" lvl="3" marL="18288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indent="-635000" lvl="4" marL="2286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indent="-635000" lvl="5" marL="27432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indent="-635000" lvl="6" marL="32004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indent="-635000" lvl="7" marL="36576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indent="-635000" lvl="8" marL="41148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1623229" y="3746130"/>
            <a:ext cx="21084000" cy="34043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1pPr>
            <a:lvl2pPr lvl="1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2pPr>
            <a:lvl3pPr lvl="2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3pPr>
            <a:lvl4pPr lvl="3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4pPr>
            <a:lvl5pPr lvl="4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5pPr>
            <a:lvl6pPr lvl="5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6pPr>
            <a:lvl7pPr lvl="6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7pPr>
            <a:lvl8pPr lvl="7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8pPr>
            <a:lvl9pPr lvl="8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15138000" y="-1040"/>
            <a:ext cx="15138000" cy="42804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87600" lIns="487600" spcFirstLastPara="1" rIns="487600" wrap="square" tIns="4876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879077" y="10262433"/>
            <a:ext cx="13393800" cy="123357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2pPr>
            <a:lvl3pPr lvl="2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3pPr>
            <a:lvl4pPr lvl="3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4pPr>
            <a:lvl5pPr lvl="4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5pPr>
            <a:lvl6pPr lvl="5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6pPr>
            <a:lvl7pPr lvl="6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7pPr>
            <a:lvl8pPr lvl="7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8pPr>
            <a:lvl9pPr lvl="8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879077" y="23327077"/>
            <a:ext cx="13393800" cy="102783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16354801" y="6025723"/>
            <a:ext cx="12704400" cy="307506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indent="-838200" lvl="0" marL="457200">
              <a:spcBef>
                <a:spcPts val="0"/>
              </a:spcBef>
              <a:spcAft>
                <a:spcPts val="0"/>
              </a:spcAft>
              <a:buSzPts val="9600"/>
              <a:buChar char="●"/>
              <a:defRPr/>
            </a:lvl1pPr>
            <a:lvl2pPr indent="-704850" lvl="1" marL="9144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2pPr>
            <a:lvl3pPr indent="-704850" lvl="2" marL="13716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3pPr>
            <a:lvl4pPr indent="-704850" lvl="3" marL="18288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4pPr>
            <a:lvl5pPr indent="-704850" lvl="4" marL="22860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5pPr>
            <a:lvl6pPr indent="-704850" lvl="5" marL="27432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6pPr>
            <a:lvl7pPr indent="-704850" lvl="6" marL="32004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7pPr>
            <a:lvl8pPr indent="-704850" lvl="7" marL="36576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8pPr>
            <a:lvl9pPr indent="-704850" lvl="8" marL="41148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1032046" y="35206675"/>
            <a:ext cx="19862100" cy="50355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1032046" y="9205128"/>
            <a:ext cx="28212000" cy="163404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1032046" y="26232690"/>
            <a:ext cx="28212000" cy="108249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838200" lvl="0" marL="457200" algn="ctr">
              <a:spcBef>
                <a:spcPts val="0"/>
              </a:spcBef>
              <a:spcAft>
                <a:spcPts val="0"/>
              </a:spcAft>
              <a:buSzPts val="9600"/>
              <a:buChar char="●"/>
              <a:defRPr/>
            </a:lvl1pPr>
            <a:lvl2pPr indent="-704850" lvl="1" marL="914400" algn="ctr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2pPr>
            <a:lvl3pPr indent="-704850" lvl="2" marL="1371600" algn="ctr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3pPr>
            <a:lvl4pPr indent="-704850" lvl="3" marL="1828800" algn="ctr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4pPr>
            <a:lvl5pPr indent="-704850" lvl="4" marL="2286000" algn="ctr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5pPr>
            <a:lvl6pPr indent="-704850" lvl="5" marL="2743200" algn="ctr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6pPr>
            <a:lvl7pPr indent="-704850" lvl="6" marL="3200400" algn="ctr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7pPr>
            <a:lvl8pPr indent="-704850" lvl="7" marL="3657600" algn="ctr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8pPr>
            <a:lvl9pPr indent="-704850" lvl="8" marL="4114800" algn="ctr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1032046" y="9590851"/>
            <a:ext cx="28212000" cy="284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838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Char char="●"/>
              <a:defRPr sz="9600">
                <a:solidFill>
                  <a:schemeClr val="dk2"/>
                </a:solidFill>
              </a:defRPr>
            </a:lvl1pPr>
            <a:lvl2pPr indent="-7048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○"/>
              <a:defRPr sz="7500">
                <a:solidFill>
                  <a:schemeClr val="dk2"/>
                </a:solidFill>
              </a:defRPr>
            </a:lvl2pPr>
            <a:lvl3pPr indent="-7048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■"/>
              <a:defRPr sz="7500">
                <a:solidFill>
                  <a:schemeClr val="dk2"/>
                </a:solidFill>
              </a:defRPr>
            </a:lvl3pPr>
            <a:lvl4pPr indent="-7048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●"/>
              <a:defRPr sz="7500">
                <a:solidFill>
                  <a:schemeClr val="dk2"/>
                </a:solidFill>
              </a:defRPr>
            </a:lvl4pPr>
            <a:lvl5pPr indent="-7048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○"/>
              <a:defRPr sz="7500">
                <a:solidFill>
                  <a:schemeClr val="dk2"/>
                </a:solidFill>
              </a:defRPr>
            </a:lvl5pPr>
            <a:lvl6pPr indent="-7048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■"/>
              <a:defRPr sz="7500">
                <a:solidFill>
                  <a:schemeClr val="dk2"/>
                </a:solidFill>
              </a:defRPr>
            </a:lvl6pPr>
            <a:lvl7pPr indent="-7048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●"/>
              <a:defRPr sz="7500">
                <a:solidFill>
                  <a:schemeClr val="dk2"/>
                </a:solidFill>
              </a:defRPr>
            </a:lvl7pPr>
            <a:lvl8pPr indent="-7048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○"/>
              <a:defRPr sz="7500">
                <a:solidFill>
                  <a:schemeClr val="dk2"/>
                </a:solidFill>
              </a:defRPr>
            </a:lvl8pPr>
            <a:lvl9pPr indent="-7048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■"/>
              <a:defRPr sz="75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 algn="r">
              <a:buNone/>
              <a:defRPr sz="5300">
                <a:solidFill>
                  <a:schemeClr val="dk2"/>
                </a:solidFill>
              </a:defRPr>
            </a:lvl1pPr>
            <a:lvl2pPr lvl="1" algn="r">
              <a:buNone/>
              <a:defRPr sz="5300">
                <a:solidFill>
                  <a:schemeClr val="dk2"/>
                </a:solidFill>
              </a:defRPr>
            </a:lvl2pPr>
            <a:lvl3pPr lvl="2" algn="r">
              <a:buNone/>
              <a:defRPr sz="5300">
                <a:solidFill>
                  <a:schemeClr val="dk2"/>
                </a:solidFill>
              </a:defRPr>
            </a:lvl3pPr>
            <a:lvl4pPr lvl="3" algn="r">
              <a:buNone/>
              <a:defRPr sz="5300">
                <a:solidFill>
                  <a:schemeClr val="dk2"/>
                </a:solidFill>
              </a:defRPr>
            </a:lvl4pPr>
            <a:lvl5pPr lvl="4" algn="r">
              <a:buNone/>
              <a:defRPr sz="5300">
                <a:solidFill>
                  <a:schemeClr val="dk2"/>
                </a:solidFill>
              </a:defRPr>
            </a:lvl5pPr>
            <a:lvl6pPr lvl="5" algn="r">
              <a:buNone/>
              <a:defRPr sz="5300">
                <a:solidFill>
                  <a:schemeClr val="dk2"/>
                </a:solidFill>
              </a:defRPr>
            </a:lvl6pPr>
            <a:lvl7pPr lvl="6" algn="r">
              <a:buNone/>
              <a:defRPr sz="5300">
                <a:solidFill>
                  <a:schemeClr val="dk2"/>
                </a:solidFill>
              </a:defRPr>
            </a:lvl7pPr>
            <a:lvl8pPr lvl="7" algn="r">
              <a:buNone/>
              <a:defRPr sz="5300">
                <a:solidFill>
                  <a:schemeClr val="dk2"/>
                </a:solidFill>
              </a:defRPr>
            </a:lvl8pPr>
            <a:lvl9pPr lvl="8" algn="r">
              <a:buNone/>
              <a:defRPr sz="53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jp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11880000" y="19737750"/>
            <a:ext cx="18073200" cy="22473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5" name="Google Shape;55;p13"/>
          <p:cNvSpPr/>
          <p:nvPr/>
        </p:nvSpPr>
        <p:spPr>
          <a:xfrm>
            <a:off x="252000" y="15264000"/>
            <a:ext cx="11342700" cy="164919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248500" y="536200"/>
            <a:ext cx="21421500" cy="51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Arial"/>
              <a:buNone/>
            </a:pPr>
            <a:r>
              <a:rPr b="1" lang="de" sz="8000">
                <a:latin typeface="IBM Plex Mono"/>
                <a:ea typeface="IBM Plex Mono"/>
                <a:cs typeface="IBM Plex Mono"/>
                <a:sym typeface="IBM Plex Mono"/>
              </a:rPr>
              <a:t>When and Why Does Hindsight Experience Replay Improve Soft Actor-Critic under Sparse Rewards?</a:t>
            </a:r>
            <a:endParaRPr b="1" sz="8000">
              <a:latin typeface="IBM Plex Mono"/>
              <a:ea typeface="IBM Plex Mono"/>
              <a:cs typeface="IBM Plex Mono"/>
              <a:sym typeface="IBM Plex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Arial"/>
              <a:buNone/>
            </a:pPr>
            <a:r>
              <a:t/>
            </a:r>
            <a:endParaRPr b="1" sz="8000">
              <a:latin typeface="IBM Plex Mono"/>
              <a:ea typeface="IBM Plex Mono"/>
              <a:cs typeface="IBM Plex Mono"/>
              <a:sym typeface="IBM Plex Mono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248500" y="4466975"/>
            <a:ext cx="2970480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41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Author(s): Mustafa Asfari, Mohammad Alkhozami</a:t>
            </a:r>
            <a:endParaRPr sz="41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252000" y="15264000"/>
            <a:ext cx="11352600" cy="9852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de" sz="52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Approach</a:t>
            </a:r>
            <a:endParaRPr b="1" sz="52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9" name="Google Shape;59;p13"/>
          <p:cNvSpPr/>
          <p:nvPr/>
        </p:nvSpPr>
        <p:spPr>
          <a:xfrm>
            <a:off x="11880000" y="6602400"/>
            <a:ext cx="18073200" cy="12942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8000" y="-18000"/>
            <a:ext cx="30312001" cy="25185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/>
        </p:nvSpPr>
        <p:spPr>
          <a:xfrm>
            <a:off x="11880000" y="6602825"/>
            <a:ext cx="18073200" cy="985200"/>
          </a:xfrm>
          <a:prstGeom prst="rect">
            <a:avLst/>
          </a:prstGeom>
          <a:solidFill>
            <a:srgbClr val="0B5394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52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Motivation &amp; Problem Setting</a:t>
            </a:r>
            <a:endParaRPr b="1" sz="52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2" name="Google Shape;62;p13"/>
          <p:cNvSpPr/>
          <p:nvPr/>
        </p:nvSpPr>
        <p:spPr>
          <a:xfrm>
            <a:off x="252000" y="32022200"/>
            <a:ext cx="11354400" cy="10189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3" name="Google Shape;63;p13"/>
          <p:cNvSpPr txBox="1"/>
          <p:nvPr/>
        </p:nvSpPr>
        <p:spPr>
          <a:xfrm>
            <a:off x="252000" y="32022200"/>
            <a:ext cx="11352600" cy="985200"/>
          </a:xfrm>
          <a:prstGeom prst="rect">
            <a:avLst/>
          </a:prstGeom>
          <a:solidFill>
            <a:srgbClr val="0B5394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52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Future Works</a:t>
            </a:r>
            <a:endParaRPr b="1" sz="5200">
              <a:solidFill>
                <a:srgbClr val="FFFFFF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64" name="Google Shape;64;p13"/>
          <p:cNvSpPr txBox="1"/>
          <p:nvPr/>
        </p:nvSpPr>
        <p:spPr>
          <a:xfrm>
            <a:off x="540000" y="32986772"/>
            <a:ext cx="10984200" cy="315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49530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BM Plex Sans"/>
              <a:buChar char="●"/>
            </a:pPr>
            <a:r>
              <a:rPr lang="de" sz="4200">
                <a:latin typeface="IBM Plex Sans"/>
                <a:ea typeface="IBM Plex Sans"/>
                <a:cs typeface="IBM Plex Sans"/>
                <a:sym typeface="IBM Plex Sans"/>
              </a:rPr>
              <a:t>Cleaner curriculum metric (real-goal-only transitions) for Push </a:t>
            </a:r>
            <a:endParaRPr sz="42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9530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BM Plex Sans"/>
              <a:buChar char="●"/>
            </a:pPr>
            <a:r>
              <a:rPr lang="de" sz="4200">
                <a:latin typeface="IBM Plex Sans"/>
                <a:ea typeface="IBM Plex Sans"/>
                <a:cs typeface="IBM Plex Sans"/>
                <a:sym typeface="IBM Plex Sans"/>
              </a:rPr>
              <a:t>Test on a third, harder Fetch task </a:t>
            </a:r>
            <a:endParaRPr sz="42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9530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BM Plex Sans"/>
              <a:buChar char="●"/>
            </a:pPr>
            <a:r>
              <a:rPr lang="de" sz="4200">
                <a:latin typeface="IBM Plex Sans"/>
                <a:ea typeface="IBM Plex Sans"/>
                <a:cs typeface="IBM Plex Sans"/>
                <a:sym typeface="IBM Plex Sans"/>
              </a:rPr>
              <a:t>Formal significance testing across seeds </a:t>
            </a:r>
            <a:endParaRPr sz="42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11880000" y="19737750"/>
            <a:ext cx="18073200" cy="9852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52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Key Insights</a:t>
            </a:r>
            <a:endParaRPr b="1" sz="52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6" name="Google Shape;66;p13"/>
          <p:cNvSpPr/>
          <p:nvPr/>
        </p:nvSpPr>
        <p:spPr>
          <a:xfrm>
            <a:off x="421175" y="6608313"/>
            <a:ext cx="1060500" cy="9390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1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7" name="Google Shape;67;p13"/>
          <p:cNvSpPr/>
          <p:nvPr/>
        </p:nvSpPr>
        <p:spPr>
          <a:xfrm>
            <a:off x="252000" y="6602400"/>
            <a:ext cx="11342700" cy="8396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8" name="Google Shape;68;p13"/>
          <p:cNvSpPr txBox="1"/>
          <p:nvPr/>
        </p:nvSpPr>
        <p:spPr>
          <a:xfrm>
            <a:off x="252000" y="6602400"/>
            <a:ext cx="11342700" cy="985200"/>
          </a:xfrm>
          <a:prstGeom prst="rect">
            <a:avLst/>
          </a:prstGeom>
          <a:solidFill>
            <a:srgbClr val="0B5394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52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TL;DR</a:t>
            </a:r>
            <a:endParaRPr b="1" sz="5200">
              <a:solidFill>
                <a:srgbClr val="FFFFFF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69" name="Google Shape;69;p13"/>
          <p:cNvSpPr txBox="1"/>
          <p:nvPr/>
        </p:nvSpPr>
        <p:spPr>
          <a:xfrm>
            <a:off x="540000" y="8042400"/>
            <a:ext cx="8613900" cy="31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HER turns SAC's sparse-reward failure into success — and the harder the task, the bigger the difference.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0" name="Google Shape;70;p13"/>
          <p:cNvSpPr/>
          <p:nvPr/>
        </p:nvSpPr>
        <p:spPr>
          <a:xfrm>
            <a:off x="432000" y="6706800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1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2378600" y="8042400"/>
            <a:ext cx="8613900" cy="115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4300">
                <a:latin typeface="IBM Plex Sans"/>
                <a:ea typeface="IBM Plex Sans"/>
                <a:cs typeface="IBM Plex Sans"/>
                <a:sym typeface="IBM Plex Sans"/>
              </a:rPr>
              <a:t>Motivation</a:t>
            </a:r>
            <a:endParaRPr sz="43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IBM Plex Sans"/>
              <a:buChar char="●"/>
            </a:pPr>
            <a:r>
              <a:rPr lang="de" sz="43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Sparse, binary rewards are the most natural way to specify a robotic task — but they give the agent no signal on how to improve (Andrychowicz et al., 2017)</a:t>
            </a:r>
            <a:endParaRPr sz="43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IBM Plex Sans"/>
              <a:buChar char="●"/>
            </a:pPr>
            <a:r>
              <a:rPr lang="de" sz="43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HER is known to help under sparse rewards — but when it matters most and why it works is unclear</a:t>
            </a:r>
            <a:endParaRPr sz="43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540000" y="16704000"/>
            <a:ext cx="10731600" cy="9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4 conditions (dense / dense+HER / sparse / sparse+HER) × 2 tasks: FetchReach (easy) vs FetchPush (hard)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SAC (Stable-Baselines3) + HerReplayBuffer, identical hyperparameters everywhere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70 runs total, 5–10 seeds/condition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Track SAC's entropy coefficient α + goal-distance distribution to probe the mechanism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Ablation: HER relabeling ratio n_sampled_goal ∈ {1, 4, 8}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3" name="Google Shape;73;p13"/>
          <p:cNvSpPr/>
          <p:nvPr/>
        </p:nvSpPr>
        <p:spPr>
          <a:xfrm>
            <a:off x="12060000" y="19833641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4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4" name="Google Shape;74;p13"/>
          <p:cNvSpPr/>
          <p:nvPr/>
        </p:nvSpPr>
        <p:spPr>
          <a:xfrm>
            <a:off x="12060000" y="6706800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2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5" name="Google Shape;75;p13"/>
          <p:cNvSpPr/>
          <p:nvPr/>
        </p:nvSpPr>
        <p:spPr>
          <a:xfrm>
            <a:off x="432000" y="15372000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3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6" name="Google Shape;76;p13"/>
          <p:cNvSpPr/>
          <p:nvPr/>
        </p:nvSpPr>
        <p:spPr>
          <a:xfrm>
            <a:off x="432000" y="32124200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5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7" name="Google Shape;77;p13"/>
          <p:cNvSpPr txBox="1"/>
          <p:nvPr/>
        </p:nvSpPr>
        <p:spPr>
          <a:xfrm>
            <a:off x="12151200" y="21072625"/>
            <a:ext cx="17530800" cy="481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5016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Easy task: all 4 conditions succeed; HER just 2.75× faster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Hard task: sparse SAC never learns (5–6%); sparse+HER reaches 91% mean (99% median)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Why: without HER, α collapses ~21× before the task is solved (false convergence); with HER, α stays 8× higher → sustained exploration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More relabeling saturates, doesn't compound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8" name="Google Shape;78;p13"/>
          <p:cNvSpPr txBox="1"/>
          <p:nvPr/>
        </p:nvSpPr>
        <p:spPr>
          <a:xfrm>
            <a:off x="21670100" y="8042400"/>
            <a:ext cx="7914600" cy="46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4300">
                <a:latin typeface="IBM Plex Sans"/>
                <a:ea typeface="IBM Plex Sans"/>
                <a:cs typeface="IBM Plex Sans"/>
                <a:sym typeface="IBM Plex Sans"/>
              </a:rPr>
              <a:t>Problem Setting</a:t>
            </a:r>
            <a:endParaRPr sz="43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IBM Plex Sans"/>
              <a:buChar char="●"/>
            </a:pPr>
            <a:r>
              <a:rPr lang="de" sz="43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Does HER's benefit scale with task difficulty, and what training-dynamics mechanism drives it?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79" name="Google Shape;7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8000" y="5985975"/>
            <a:ext cx="30312001" cy="25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" y="42553175"/>
            <a:ext cx="30276000" cy="250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917600" y="686825"/>
            <a:ext cx="7378207" cy="212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0933113" y="687600"/>
            <a:ext cx="1538712" cy="2127601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3"/>
          <p:cNvSpPr txBox="1"/>
          <p:nvPr/>
        </p:nvSpPr>
        <p:spPr>
          <a:xfrm>
            <a:off x="285600" y="5153150"/>
            <a:ext cx="2970480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4100">
                <a:solidFill>
                  <a:srgbClr val="9E9E9E"/>
                </a:solidFill>
                <a:latin typeface="IBM Plex Sans"/>
                <a:ea typeface="IBM Plex Sans"/>
                <a:cs typeface="IBM Plex Sans"/>
                <a:sym typeface="IBM Plex Sans"/>
              </a:rPr>
              <a:t>Poster Presentations in context of ADRL Lecture </a:t>
            </a:r>
            <a:endParaRPr b="1" sz="4100">
              <a:solidFill>
                <a:srgbClr val="9E9E9E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84" name="Picture 83" descr="fig1_combin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000" y="11372300"/>
            <a:ext cx="10766700" cy="3427634"/>
          </a:xfrm>
          <a:prstGeom prst="rect">
            <a:avLst/>
          </a:prstGeom>
        </p:spPr>
      </p:pic>
      <p:pic>
        <p:nvPicPr>
          <p:cNvPr id="85" name="Picture 84" descr="fig4_combin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51200" y="26190325"/>
            <a:ext cx="17530800" cy="5581248"/>
          </a:xfrm>
          <a:prstGeom prst="rect">
            <a:avLst/>
          </a:prstGeom>
        </p:spPr>
      </p:pic>
      <p:pic>
        <p:nvPicPr>
          <p:cNvPr id="86" name="Picture 85" descr="qr_rep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000" y="36345172"/>
            <a:ext cx="2011680" cy="2011680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2751680" y="36345172"/>
            <a:ext cx="8566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B5394"/>
                </a:solidFill>
              </a:rPr>
              <a:t>Code, data &amp; full report</a:t>
            </a:r>
          </a:p>
          <a:p>
            <a:r>
              <a:rPr sz="1100">
                <a:solidFill>
                  <a:srgbClr val="404040"/>
                </a:solidFill>
              </a:rPr>
              <a:t>github.com/mustafa99705/-adrl-sac-her-fetchreach</a:t>
            </a:r>
          </a:p>
        </p:txBody>
      </p:sp>
      <p:pic>
        <p:nvPicPr>
          <p:cNvPr id="88" name="Picture 87" descr="sim_combin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000" y="26123300"/>
            <a:ext cx="9636400" cy="5300000"/>
          </a:xfrm>
          <a:prstGeom prst="rect">
            <a:avLst/>
          </a:prstGeom>
        </p:spPr>
      </p:pic>
      <p:pic>
        <p:nvPicPr>
          <p:cNvPr id="89" name="Picture 88" descr="fig6_push_ablation-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151200" y="32071573"/>
            <a:ext cx="14000000" cy="90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