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0276800" cy="42799000"/>
  <p:notesSz cx="6858000" cy="9144000"/>
  <p:embeddedFontLst>
    <p:embeddedFont>
      <p:font typeface="IBM Plex Sans" charset="1" panose="020B0503050203000203"/>
      <p:regular r:id="rId7"/>
    </p:embeddedFont>
    <p:embeddedFont>
      <p:font typeface="IBM Plex Sans Bold" charset="1" panose="020B0803050203000203"/>
      <p:regular r:id="rId8"/>
    </p:embeddedFont>
    <p:embeddedFont>
      <p:font typeface="IBM Plex Mono Bold" charset="1" panose="020B0809050203000203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svg" Type="http://schemas.openxmlformats.org/officeDocument/2006/relationships/image"/><Relationship Id="rId19" Target="../media/image18.jpe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jpeg" Type="http://schemas.openxmlformats.org/officeDocument/2006/relationships/image"/><Relationship Id="rId29" Target="../media/image28.pn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737" y="6296149"/>
            <a:ext cx="11479225" cy="8532924"/>
          </a:xfrm>
          <a:custGeom>
            <a:avLst/>
            <a:gdLst/>
            <a:ahLst/>
            <a:cxnLst/>
            <a:rect r="r" b="b" t="t" l="l"/>
            <a:pathLst>
              <a:path h="8532924" w="11479225">
                <a:moveTo>
                  <a:pt x="0" y="0"/>
                </a:moveTo>
                <a:lnTo>
                  <a:pt x="11479225" y="0"/>
                </a:lnTo>
                <a:lnTo>
                  <a:pt x="11479225" y="8532923"/>
                </a:lnTo>
                <a:lnTo>
                  <a:pt x="0" y="853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5672" y="10921826"/>
            <a:ext cx="8476757" cy="3357739"/>
            <a:chOff x="0" y="0"/>
            <a:chExt cx="758567" cy="300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8567" cy="300477"/>
            </a:xfrm>
            <a:custGeom>
              <a:avLst/>
              <a:gdLst/>
              <a:ahLst/>
              <a:cxnLst/>
              <a:rect r="r" b="b" t="t" l="l"/>
              <a:pathLst>
                <a:path h="300477" w="758567">
                  <a:moveTo>
                    <a:pt x="45666" y="0"/>
                  </a:moveTo>
                  <a:lnTo>
                    <a:pt x="712901" y="0"/>
                  </a:lnTo>
                  <a:cubicBezTo>
                    <a:pt x="738121" y="0"/>
                    <a:pt x="758567" y="20445"/>
                    <a:pt x="758567" y="45666"/>
                  </a:cubicBezTo>
                  <a:lnTo>
                    <a:pt x="758567" y="254811"/>
                  </a:lnTo>
                  <a:cubicBezTo>
                    <a:pt x="758567" y="280032"/>
                    <a:pt x="738121" y="300477"/>
                    <a:pt x="712901" y="300477"/>
                  </a:cubicBezTo>
                  <a:lnTo>
                    <a:pt x="45666" y="300477"/>
                  </a:lnTo>
                  <a:cubicBezTo>
                    <a:pt x="20445" y="300477"/>
                    <a:pt x="0" y="280032"/>
                    <a:pt x="0" y="254811"/>
                  </a:cubicBezTo>
                  <a:lnTo>
                    <a:pt x="0" y="45666"/>
                  </a:lnTo>
                  <a:cubicBezTo>
                    <a:pt x="0" y="20445"/>
                    <a:pt x="20445" y="0"/>
                    <a:pt x="4566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758567" cy="386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811733" y="6295730"/>
            <a:ext cx="18209724" cy="8513721"/>
          </a:xfrm>
          <a:custGeom>
            <a:avLst/>
            <a:gdLst/>
            <a:ahLst/>
            <a:cxnLst/>
            <a:rect r="r" b="b" t="t" l="l"/>
            <a:pathLst>
              <a:path h="8513721" w="18209724">
                <a:moveTo>
                  <a:pt x="0" y="0"/>
                </a:moveTo>
                <a:lnTo>
                  <a:pt x="18209724" y="0"/>
                </a:lnTo>
                <a:lnTo>
                  <a:pt x="18209724" y="8513721"/>
                </a:lnTo>
                <a:lnTo>
                  <a:pt x="0" y="851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78604" y="7803985"/>
            <a:ext cx="8613896" cy="2368801"/>
          </a:xfrm>
          <a:custGeom>
            <a:avLst/>
            <a:gdLst/>
            <a:ahLst/>
            <a:cxnLst/>
            <a:rect r="r" b="b" t="t" l="l"/>
            <a:pathLst>
              <a:path h="2368801" w="8613896">
                <a:moveTo>
                  <a:pt x="0" y="0"/>
                </a:moveTo>
                <a:lnTo>
                  <a:pt x="8613896" y="0"/>
                </a:lnTo>
                <a:lnTo>
                  <a:pt x="8613896" y="2368801"/>
                </a:lnTo>
                <a:lnTo>
                  <a:pt x="0" y="23688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5985977"/>
            <a:ext cx="30276003" cy="252603"/>
          </a:xfrm>
          <a:custGeom>
            <a:avLst/>
            <a:gdLst/>
            <a:ahLst/>
            <a:cxnLst/>
            <a:rect r="r" b="b" t="t" l="l"/>
            <a:pathLst>
              <a:path h="252603" w="30276003">
                <a:moveTo>
                  <a:pt x="0" y="0"/>
                </a:moveTo>
                <a:lnTo>
                  <a:pt x="30276003" y="0"/>
                </a:lnTo>
                <a:lnTo>
                  <a:pt x="30276003" y="252603"/>
                </a:lnTo>
                <a:lnTo>
                  <a:pt x="0" y="2526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11733" y="6296149"/>
            <a:ext cx="18209724" cy="1121721"/>
          </a:xfrm>
          <a:custGeom>
            <a:avLst/>
            <a:gdLst/>
            <a:ahLst/>
            <a:cxnLst/>
            <a:rect r="r" b="b" t="t" l="l"/>
            <a:pathLst>
              <a:path h="1121721" w="18209724">
                <a:moveTo>
                  <a:pt x="0" y="0"/>
                </a:moveTo>
                <a:lnTo>
                  <a:pt x="18209724" y="0"/>
                </a:lnTo>
                <a:lnTo>
                  <a:pt x="18209724" y="1121721"/>
                </a:lnTo>
                <a:lnTo>
                  <a:pt x="0" y="1121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816496" y="15028526"/>
            <a:ext cx="18173900" cy="27417829"/>
            <a:chOff x="0" y="0"/>
            <a:chExt cx="25123467" cy="379022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123532" cy="37902220"/>
            </a:xfrm>
            <a:custGeom>
              <a:avLst/>
              <a:gdLst/>
              <a:ahLst/>
              <a:cxnLst/>
              <a:rect r="r" b="b" t="t" l="l"/>
              <a:pathLst>
                <a:path h="37902220" w="25123532">
                  <a:moveTo>
                    <a:pt x="0" y="0"/>
                  </a:moveTo>
                  <a:lnTo>
                    <a:pt x="25123532" y="0"/>
                  </a:lnTo>
                  <a:lnTo>
                    <a:pt x="25123532" y="37902220"/>
                  </a:lnTo>
                  <a:lnTo>
                    <a:pt x="0" y="37902220"/>
                  </a:lnTo>
                  <a:close/>
                </a:path>
              </a:pathLst>
            </a:custGeom>
            <a:solidFill>
              <a:srgbClr val="FFFFFF"/>
            </a:solidFill>
            <a:ln w="6728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816496" y="14962089"/>
            <a:ext cx="18200199" cy="1112206"/>
          </a:xfrm>
          <a:custGeom>
            <a:avLst/>
            <a:gdLst/>
            <a:ahLst/>
            <a:cxnLst/>
            <a:rect r="r" b="b" t="t" l="l"/>
            <a:pathLst>
              <a:path h="1112206" w="18200199">
                <a:moveTo>
                  <a:pt x="0" y="0"/>
                </a:moveTo>
                <a:lnTo>
                  <a:pt x="18200198" y="0"/>
                </a:lnTo>
                <a:lnTo>
                  <a:pt x="18200198" y="1112206"/>
                </a:lnTo>
                <a:lnTo>
                  <a:pt x="0" y="11122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67997" y="16465591"/>
            <a:ext cx="17530801" cy="846601"/>
          </a:xfrm>
          <a:custGeom>
            <a:avLst/>
            <a:gdLst/>
            <a:ahLst/>
            <a:cxnLst/>
            <a:rect r="r" b="b" t="t" l="l"/>
            <a:pathLst>
              <a:path h="846601" w="17530801">
                <a:moveTo>
                  <a:pt x="0" y="0"/>
                </a:moveTo>
                <a:lnTo>
                  <a:pt x="17530801" y="0"/>
                </a:lnTo>
                <a:lnTo>
                  <a:pt x="17530801" y="846601"/>
                </a:lnTo>
                <a:lnTo>
                  <a:pt x="0" y="846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670099" y="7803985"/>
            <a:ext cx="7914599" cy="1640700"/>
          </a:xfrm>
          <a:custGeom>
            <a:avLst/>
            <a:gdLst/>
            <a:ahLst/>
            <a:cxnLst/>
            <a:rect r="r" b="b" t="t" l="l"/>
            <a:pathLst>
              <a:path h="1640700" w="7914599">
                <a:moveTo>
                  <a:pt x="0" y="0"/>
                </a:moveTo>
                <a:lnTo>
                  <a:pt x="7914599" y="0"/>
                </a:lnTo>
                <a:lnTo>
                  <a:pt x="7914599" y="1640700"/>
                </a:lnTo>
                <a:lnTo>
                  <a:pt x="0" y="1640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" y="42553176"/>
            <a:ext cx="30275994" cy="250822"/>
          </a:xfrm>
          <a:custGeom>
            <a:avLst/>
            <a:gdLst/>
            <a:ahLst/>
            <a:cxnLst/>
            <a:rect r="r" b="b" t="t" l="l"/>
            <a:pathLst>
              <a:path h="250822" w="30275994">
                <a:moveTo>
                  <a:pt x="0" y="0"/>
                </a:moveTo>
                <a:lnTo>
                  <a:pt x="30275994" y="0"/>
                </a:lnTo>
                <a:lnTo>
                  <a:pt x="30275994" y="250821"/>
                </a:lnTo>
                <a:lnTo>
                  <a:pt x="0" y="2508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5985977"/>
            <a:ext cx="30264097" cy="252603"/>
            <a:chOff x="0" y="0"/>
            <a:chExt cx="40352129" cy="3368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352092" cy="336804"/>
            </a:xfrm>
            <a:custGeom>
              <a:avLst/>
              <a:gdLst/>
              <a:ahLst/>
              <a:cxnLst/>
              <a:rect r="r" b="b" t="t" l="l"/>
              <a:pathLst>
                <a:path h="336804" w="40352092">
                  <a:moveTo>
                    <a:pt x="0" y="0"/>
                  </a:moveTo>
                  <a:lnTo>
                    <a:pt x="40352092" y="0"/>
                  </a:lnTo>
                  <a:lnTo>
                    <a:pt x="40352092" y="336804"/>
                  </a:lnTo>
                  <a:lnTo>
                    <a:pt x="0" y="336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59" t="0" r="-98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" y="42553176"/>
            <a:ext cx="30264097" cy="245821"/>
            <a:chOff x="0" y="0"/>
            <a:chExt cx="40352129" cy="3277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352092" cy="327787"/>
            </a:xfrm>
            <a:custGeom>
              <a:avLst/>
              <a:gdLst/>
              <a:ahLst/>
              <a:cxnLst/>
              <a:rect r="r" b="b" t="t" l="l"/>
              <a:pathLst>
                <a:path h="327787" w="40352092">
                  <a:moveTo>
                    <a:pt x="0" y="0"/>
                  </a:moveTo>
                  <a:lnTo>
                    <a:pt x="40352092" y="0"/>
                  </a:lnTo>
                  <a:lnTo>
                    <a:pt x="40352092" y="327787"/>
                  </a:lnTo>
                  <a:lnTo>
                    <a:pt x="0" y="327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-39" b="-2026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0" y="0"/>
            <a:ext cx="30276003" cy="233848"/>
          </a:xfrm>
          <a:custGeom>
            <a:avLst/>
            <a:gdLst/>
            <a:ahLst/>
            <a:cxnLst/>
            <a:rect r="r" b="b" t="t" l="l"/>
            <a:pathLst>
              <a:path h="233848" w="30276003">
                <a:moveTo>
                  <a:pt x="0" y="0"/>
                </a:moveTo>
                <a:lnTo>
                  <a:pt x="30276003" y="0"/>
                </a:lnTo>
                <a:lnTo>
                  <a:pt x="30276003" y="233848"/>
                </a:lnTo>
                <a:lnTo>
                  <a:pt x="0" y="23384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84995" y="472697"/>
            <a:ext cx="29831805" cy="4873476"/>
          </a:xfrm>
          <a:custGeom>
            <a:avLst/>
            <a:gdLst/>
            <a:ahLst/>
            <a:cxnLst/>
            <a:rect r="r" b="b" t="t" l="l"/>
            <a:pathLst>
              <a:path h="4873476" w="29831805">
                <a:moveTo>
                  <a:pt x="0" y="0"/>
                </a:moveTo>
                <a:lnTo>
                  <a:pt x="29831804" y="0"/>
                </a:lnTo>
                <a:lnTo>
                  <a:pt x="29831804" y="4873476"/>
                </a:lnTo>
                <a:lnTo>
                  <a:pt x="0" y="48734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2917598" y="686829"/>
            <a:ext cx="7358396" cy="2129095"/>
          </a:xfrm>
          <a:custGeom>
            <a:avLst/>
            <a:gdLst/>
            <a:ahLst/>
            <a:cxnLst/>
            <a:rect r="r" b="b" t="t" l="l"/>
            <a:pathLst>
              <a:path h="2129095" w="7358396">
                <a:moveTo>
                  <a:pt x="0" y="0"/>
                </a:moveTo>
                <a:lnTo>
                  <a:pt x="7358396" y="0"/>
                </a:lnTo>
                <a:lnTo>
                  <a:pt x="7358396" y="2129094"/>
                </a:lnTo>
                <a:lnTo>
                  <a:pt x="0" y="212909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933112" y="687600"/>
            <a:ext cx="1538716" cy="2127599"/>
          </a:xfrm>
          <a:custGeom>
            <a:avLst/>
            <a:gdLst/>
            <a:ahLst/>
            <a:cxnLst/>
            <a:rect r="r" b="b" t="t" l="l"/>
            <a:pathLst>
              <a:path h="2127599" w="1538716">
                <a:moveTo>
                  <a:pt x="0" y="0"/>
                </a:moveTo>
                <a:lnTo>
                  <a:pt x="1538716" y="0"/>
                </a:lnTo>
                <a:lnTo>
                  <a:pt x="1538716" y="2127599"/>
                </a:lnTo>
                <a:lnTo>
                  <a:pt x="0" y="212759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0" y="0"/>
            <a:ext cx="30264097" cy="233848"/>
            <a:chOff x="0" y="0"/>
            <a:chExt cx="40352129" cy="3117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352092" cy="311785"/>
            </a:xfrm>
            <a:custGeom>
              <a:avLst/>
              <a:gdLst/>
              <a:ahLst/>
              <a:cxnLst/>
              <a:rect r="r" b="b" t="t" l="l"/>
              <a:pathLst>
                <a:path h="311785" w="40352092">
                  <a:moveTo>
                    <a:pt x="0" y="0"/>
                  </a:moveTo>
                  <a:lnTo>
                    <a:pt x="40352092" y="0"/>
                  </a:lnTo>
                  <a:lnTo>
                    <a:pt x="40352092" y="311785"/>
                  </a:lnTo>
                  <a:lnTo>
                    <a:pt x="0" y="311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59" t="-7698" r="-98" b="-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917598" y="686829"/>
            <a:ext cx="7346499" cy="2129095"/>
            <a:chOff x="0" y="0"/>
            <a:chExt cx="9795332" cy="28387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95383" cy="2838831"/>
            </a:xfrm>
            <a:custGeom>
              <a:avLst/>
              <a:gdLst/>
              <a:ahLst/>
              <a:cxnLst/>
              <a:rect r="r" b="b" t="t" l="l"/>
              <a:pathLst>
                <a:path h="2838831" w="9795383">
                  <a:moveTo>
                    <a:pt x="0" y="0"/>
                  </a:moveTo>
                  <a:lnTo>
                    <a:pt x="9795383" y="0"/>
                  </a:lnTo>
                  <a:lnTo>
                    <a:pt x="9795383" y="2838831"/>
                  </a:lnTo>
                  <a:lnTo>
                    <a:pt x="0" y="2838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-431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933112" y="687600"/>
            <a:ext cx="1538716" cy="2127599"/>
            <a:chOff x="0" y="0"/>
            <a:chExt cx="2051621" cy="28367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51558" cy="2836799"/>
            </a:xfrm>
            <a:custGeom>
              <a:avLst/>
              <a:gdLst/>
              <a:ahLst/>
              <a:cxnLst/>
              <a:rect r="r" b="b" t="t" l="l"/>
              <a:pathLst>
                <a:path h="2836799" w="2051558">
                  <a:moveTo>
                    <a:pt x="0" y="0"/>
                  </a:moveTo>
                  <a:lnTo>
                    <a:pt x="2051558" y="0"/>
                  </a:lnTo>
                  <a:lnTo>
                    <a:pt x="2051558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-3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285598" y="5153149"/>
            <a:ext cx="29704798" cy="815702"/>
          </a:xfrm>
          <a:custGeom>
            <a:avLst/>
            <a:gdLst/>
            <a:ahLst/>
            <a:cxnLst/>
            <a:rect r="r" b="b" t="t" l="l"/>
            <a:pathLst>
              <a:path h="815702" w="29704798">
                <a:moveTo>
                  <a:pt x="0" y="0"/>
                </a:moveTo>
                <a:lnTo>
                  <a:pt x="29704798" y="0"/>
                </a:lnTo>
                <a:lnTo>
                  <a:pt x="29704798" y="815702"/>
                </a:lnTo>
                <a:lnTo>
                  <a:pt x="0" y="81570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615672" y="7606317"/>
            <a:ext cx="8476757" cy="2839259"/>
            <a:chOff x="0" y="0"/>
            <a:chExt cx="758567" cy="2540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8567" cy="254079"/>
            </a:xfrm>
            <a:custGeom>
              <a:avLst/>
              <a:gdLst/>
              <a:ahLst/>
              <a:cxnLst/>
              <a:rect r="r" b="b" t="t" l="l"/>
              <a:pathLst>
                <a:path h="254079" w="758567">
                  <a:moveTo>
                    <a:pt x="45666" y="0"/>
                  </a:moveTo>
                  <a:lnTo>
                    <a:pt x="712901" y="0"/>
                  </a:lnTo>
                  <a:cubicBezTo>
                    <a:pt x="738121" y="0"/>
                    <a:pt x="758567" y="20445"/>
                    <a:pt x="758567" y="45666"/>
                  </a:cubicBezTo>
                  <a:lnTo>
                    <a:pt x="758567" y="208414"/>
                  </a:lnTo>
                  <a:cubicBezTo>
                    <a:pt x="758567" y="233634"/>
                    <a:pt x="738121" y="254079"/>
                    <a:pt x="712901" y="254079"/>
                  </a:cubicBezTo>
                  <a:lnTo>
                    <a:pt x="45666" y="254079"/>
                  </a:lnTo>
                  <a:cubicBezTo>
                    <a:pt x="20445" y="254079"/>
                    <a:pt x="0" y="233634"/>
                    <a:pt x="0" y="208414"/>
                  </a:cubicBezTo>
                  <a:lnTo>
                    <a:pt x="0" y="45666"/>
                  </a:lnTo>
                  <a:cubicBezTo>
                    <a:pt x="0" y="20445"/>
                    <a:pt x="20445" y="0"/>
                    <a:pt x="4566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758567" cy="339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8221" y="8184156"/>
            <a:ext cx="2886608" cy="813090"/>
            <a:chOff x="0" y="0"/>
            <a:chExt cx="258316" cy="727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8316" cy="72762"/>
            </a:xfrm>
            <a:custGeom>
              <a:avLst/>
              <a:gdLst/>
              <a:ahLst/>
              <a:cxnLst/>
              <a:rect r="r" b="b" t="t" l="l"/>
              <a:pathLst>
                <a:path h="72762" w="258316">
                  <a:moveTo>
                    <a:pt x="36381" y="0"/>
                  </a:moveTo>
                  <a:lnTo>
                    <a:pt x="221935" y="0"/>
                  </a:lnTo>
                  <a:cubicBezTo>
                    <a:pt x="242028" y="0"/>
                    <a:pt x="258316" y="16288"/>
                    <a:pt x="258316" y="36381"/>
                  </a:cubicBezTo>
                  <a:lnTo>
                    <a:pt x="258316" y="36381"/>
                  </a:lnTo>
                  <a:cubicBezTo>
                    <a:pt x="258316" y="56473"/>
                    <a:pt x="242028" y="72762"/>
                    <a:pt x="221935" y="72762"/>
                  </a:cubicBezTo>
                  <a:lnTo>
                    <a:pt x="36381" y="72762"/>
                  </a:lnTo>
                  <a:cubicBezTo>
                    <a:pt x="16288" y="72762"/>
                    <a:pt x="0" y="56473"/>
                    <a:pt x="0" y="36381"/>
                  </a:cubicBezTo>
                  <a:lnTo>
                    <a:pt x="0" y="36381"/>
                  </a:lnTo>
                  <a:cubicBezTo>
                    <a:pt x="0" y="16288"/>
                    <a:pt x="16288" y="0"/>
                    <a:pt x="36381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258316" cy="139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sparse SAC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518045" y="9130596"/>
            <a:ext cx="2126960" cy="797245"/>
            <a:chOff x="0" y="0"/>
            <a:chExt cx="190337" cy="713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0337" cy="71344"/>
            </a:xfrm>
            <a:custGeom>
              <a:avLst/>
              <a:gdLst/>
              <a:ahLst/>
              <a:cxnLst/>
              <a:rect r="r" b="b" t="t" l="l"/>
              <a:pathLst>
                <a:path h="71344" w="190337">
                  <a:moveTo>
                    <a:pt x="35672" y="0"/>
                  </a:moveTo>
                  <a:lnTo>
                    <a:pt x="154665" y="0"/>
                  </a:lnTo>
                  <a:cubicBezTo>
                    <a:pt x="174366" y="0"/>
                    <a:pt x="190337" y="15971"/>
                    <a:pt x="190337" y="35672"/>
                  </a:cubicBezTo>
                  <a:lnTo>
                    <a:pt x="190337" y="35672"/>
                  </a:lnTo>
                  <a:cubicBezTo>
                    <a:pt x="190337" y="45133"/>
                    <a:pt x="186579" y="54206"/>
                    <a:pt x="179889" y="60896"/>
                  </a:cubicBezTo>
                  <a:cubicBezTo>
                    <a:pt x="173199" y="67585"/>
                    <a:pt x="164126" y="71344"/>
                    <a:pt x="154665" y="71344"/>
                  </a:cubicBezTo>
                  <a:lnTo>
                    <a:pt x="35672" y="71344"/>
                  </a:lnTo>
                  <a:cubicBezTo>
                    <a:pt x="15971" y="71344"/>
                    <a:pt x="0" y="55373"/>
                    <a:pt x="0" y="35672"/>
                  </a:cubicBezTo>
                  <a:lnTo>
                    <a:pt x="0" y="35672"/>
                  </a:lnTo>
                  <a:cubicBezTo>
                    <a:pt x="0" y="15971"/>
                    <a:pt x="15971" y="0"/>
                    <a:pt x="35672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90337" cy="99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steps</a:t>
              </a:r>
            </a:p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22K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015941" y="8184156"/>
            <a:ext cx="3615763" cy="813090"/>
            <a:chOff x="0" y="0"/>
            <a:chExt cx="323567" cy="727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3567" cy="72762"/>
            </a:xfrm>
            <a:custGeom>
              <a:avLst/>
              <a:gdLst/>
              <a:ahLst/>
              <a:cxnLst/>
              <a:rect r="r" b="b" t="t" l="l"/>
              <a:pathLst>
                <a:path h="72762" w="323567">
                  <a:moveTo>
                    <a:pt x="36381" y="0"/>
                  </a:moveTo>
                  <a:lnTo>
                    <a:pt x="287186" y="0"/>
                  </a:lnTo>
                  <a:cubicBezTo>
                    <a:pt x="296835" y="0"/>
                    <a:pt x="306088" y="3833"/>
                    <a:pt x="312911" y="10656"/>
                  </a:cubicBezTo>
                  <a:cubicBezTo>
                    <a:pt x="319734" y="17478"/>
                    <a:pt x="323567" y="26732"/>
                    <a:pt x="323567" y="36381"/>
                  </a:cubicBezTo>
                  <a:lnTo>
                    <a:pt x="323567" y="36381"/>
                  </a:lnTo>
                  <a:cubicBezTo>
                    <a:pt x="323567" y="56473"/>
                    <a:pt x="307278" y="72762"/>
                    <a:pt x="287186" y="72762"/>
                  </a:cubicBezTo>
                  <a:lnTo>
                    <a:pt x="36381" y="72762"/>
                  </a:lnTo>
                  <a:cubicBezTo>
                    <a:pt x="16288" y="72762"/>
                    <a:pt x="0" y="56473"/>
                    <a:pt x="0" y="36381"/>
                  </a:cubicBezTo>
                  <a:lnTo>
                    <a:pt x="0" y="36381"/>
                  </a:lnTo>
                  <a:cubicBezTo>
                    <a:pt x="0" y="16288"/>
                    <a:pt x="16288" y="0"/>
                    <a:pt x="36381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323567" cy="139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sparse SAC +HER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760343" y="9149646"/>
            <a:ext cx="2126960" cy="797245"/>
            <a:chOff x="0" y="0"/>
            <a:chExt cx="190337" cy="71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0337" cy="71344"/>
            </a:xfrm>
            <a:custGeom>
              <a:avLst/>
              <a:gdLst/>
              <a:ahLst/>
              <a:cxnLst/>
              <a:rect r="r" b="b" t="t" l="l"/>
              <a:pathLst>
                <a:path h="71344" w="190337">
                  <a:moveTo>
                    <a:pt x="35672" y="0"/>
                  </a:moveTo>
                  <a:lnTo>
                    <a:pt x="154665" y="0"/>
                  </a:lnTo>
                  <a:cubicBezTo>
                    <a:pt x="174366" y="0"/>
                    <a:pt x="190337" y="15971"/>
                    <a:pt x="190337" y="35672"/>
                  </a:cubicBezTo>
                  <a:lnTo>
                    <a:pt x="190337" y="35672"/>
                  </a:lnTo>
                  <a:cubicBezTo>
                    <a:pt x="190337" y="45133"/>
                    <a:pt x="186579" y="54206"/>
                    <a:pt x="179889" y="60896"/>
                  </a:cubicBezTo>
                  <a:cubicBezTo>
                    <a:pt x="173199" y="67585"/>
                    <a:pt x="164126" y="71344"/>
                    <a:pt x="154665" y="71344"/>
                  </a:cubicBezTo>
                  <a:lnTo>
                    <a:pt x="35672" y="71344"/>
                  </a:lnTo>
                  <a:cubicBezTo>
                    <a:pt x="15971" y="71344"/>
                    <a:pt x="0" y="55373"/>
                    <a:pt x="0" y="35672"/>
                  </a:cubicBezTo>
                  <a:lnTo>
                    <a:pt x="0" y="35672"/>
                  </a:lnTo>
                  <a:cubicBezTo>
                    <a:pt x="0" y="15971"/>
                    <a:pt x="15971" y="0"/>
                    <a:pt x="35672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90337" cy="99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steps</a:t>
              </a:r>
            </a:p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8K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4728444" y="9569233"/>
            <a:ext cx="19619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7" id="47"/>
          <p:cNvGrpSpPr/>
          <p:nvPr/>
        </p:nvGrpSpPr>
        <p:grpSpPr>
          <a:xfrm rot="0">
            <a:off x="1939710" y="11368856"/>
            <a:ext cx="3350158" cy="813090"/>
            <a:chOff x="0" y="0"/>
            <a:chExt cx="299798" cy="7276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9798" cy="72762"/>
            </a:xfrm>
            <a:custGeom>
              <a:avLst/>
              <a:gdLst/>
              <a:ahLst/>
              <a:cxnLst/>
              <a:rect r="r" b="b" t="t" l="l"/>
              <a:pathLst>
                <a:path h="72762" w="299798">
                  <a:moveTo>
                    <a:pt x="36381" y="0"/>
                  </a:moveTo>
                  <a:lnTo>
                    <a:pt x="263418" y="0"/>
                  </a:lnTo>
                  <a:cubicBezTo>
                    <a:pt x="273066" y="0"/>
                    <a:pt x="282320" y="3833"/>
                    <a:pt x="289143" y="10656"/>
                  </a:cubicBezTo>
                  <a:cubicBezTo>
                    <a:pt x="295965" y="17478"/>
                    <a:pt x="299798" y="26732"/>
                    <a:pt x="299798" y="36381"/>
                  </a:cubicBezTo>
                  <a:lnTo>
                    <a:pt x="299798" y="36381"/>
                  </a:lnTo>
                  <a:cubicBezTo>
                    <a:pt x="299798" y="56473"/>
                    <a:pt x="283510" y="72762"/>
                    <a:pt x="263418" y="72762"/>
                  </a:cubicBezTo>
                  <a:lnTo>
                    <a:pt x="36381" y="72762"/>
                  </a:lnTo>
                  <a:cubicBezTo>
                    <a:pt x="16288" y="72762"/>
                    <a:pt x="0" y="56473"/>
                    <a:pt x="0" y="36381"/>
                  </a:cubicBezTo>
                  <a:lnTo>
                    <a:pt x="0" y="36381"/>
                  </a:lnTo>
                  <a:cubicBezTo>
                    <a:pt x="0" y="16288"/>
                    <a:pt x="16288" y="0"/>
                    <a:pt x="36381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299798" cy="139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sparse SAC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39710" y="12315296"/>
            <a:ext cx="3350158" cy="831365"/>
            <a:chOff x="0" y="0"/>
            <a:chExt cx="299798" cy="743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9798" cy="74397"/>
            </a:xfrm>
            <a:custGeom>
              <a:avLst/>
              <a:gdLst/>
              <a:ahLst/>
              <a:cxnLst/>
              <a:rect r="r" b="b" t="t" l="l"/>
              <a:pathLst>
                <a:path h="74397" w="299798">
                  <a:moveTo>
                    <a:pt x="37199" y="0"/>
                  </a:moveTo>
                  <a:lnTo>
                    <a:pt x="262600" y="0"/>
                  </a:lnTo>
                  <a:cubicBezTo>
                    <a:pt x="272465" y="0"/>
                    <a:pt x="281927" y="3919"/>
                    <a:pt x="288903" y="10895"/>
                  </a:cubicBezTo>
                  <a:cubicBezTo>
                    <a:pt x="295879" y="17871"/>
                    <a:pt x="299798" y="27333"/>
                    <a:pt x="299798" y="37199"/>
                  </a:cubicBezTo>
                  <a:lnTo>
                    <a:pt x="299798" y="37199"/>
                  </a:lnTo>
                  <a:cubicBezTo>
                    <a:pt x="299798" y="57743"/>
                    <a:pt x="283144" y="74397"/>
                    <a:pt x="262600" y="74397"/>
                  </a:cubicBezTo>
                  <a:lnTo>
                    <a:pt x="37199" y="74397"/>
                  </a:lnTo>
                  <a:cubicBezTo>
                    <a:pt x="16654" y="74397"/>
                    <a:pt x="0" y="57743"/>
                    <a:pt x="0" y="37199"/>
                  </a:cubicBezTo>
                  <a:lnTo>
                    <a:pt x="0" y="37199"/>
                  </a:lnTo>
                  <a:cubicBezTo>
                    <a:pt x="0" y="16654"/>
                    <a:pt x="16654" y="0"/>
                    <a:pt x="37199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99798" cy="10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Mean final success</a:t>
              </a:r>
              <a:r>
                <a:rPr lang="en-US" sz="19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</a:p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5.4%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835161" y="11368856"/>
            <a:ext cx="3668266" cy="813090"/>
            <a:chOff x="0" y="0"/>
            <a:chExt cx="328265" cy="7276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8265" cy="72762"/>
            </a:xfrm>
            <a:custGeom>
              <a:avLst/>
              <a:gdLst/>
              <a:ahLst/>
              <a:cxnLst/>
              <a:rect r="r" b="b" t="t" l="l"/>
              <a:pathLst>
                <a:path h="72762" w="328265">
                  <a:moveTo>
                    <a:pt x="36381" y="0"/>
                  </a:moveTo>
                  <a:lnTo>
                    <a:pt x="291884" y="0"/>
                  </a:lnTo>
                  <a:cubicBezTo>
                    <a:pt x="311977" y="0"/>
                    <a:pt x="328265" y="16288"/>
                    <a:pt x="328265" y="36381"/>
                  </a:cubicBezTo>
                  <a:lnTo>
                    <a:pt x="328265" y="36381"/>
                  </a:lnTo>
                  <a:cubicBezTo>
                    <a:pt x="328265" y="46030"/>
                    <a:pt x="324432" y="55283"/>
                    <a:pt x="317609" y="62106"/>
                  </a:cubicBezTo>
                  <a:cubicBezTo>
                    <a:pt x="310787" y="68929"/>
                    <a:pt x="301533" y="72762"/>
                    <a:pt x="291884" y="72762"/>
                  </a:cubicBezTo>
                  <a:lnTo>
                    <a:pt x="36381" y="72762"/>
                  </a:lnTo>
                  <a:cubicBezTo>
                    <a:pt x="16288" y="72762"/>
                    <a:pt x="0" y="56473"/>
                    <a:pt x="0" y="36381"/>
                  </a:cubicBezTo>
                  <a:lnTo>
                    <a:pt x="0" y="36381"/>
                  </a:lnTo>
                  <a:cubicBezTo>
                    <a:pt x="0" y="16288"/>
                    <a:pt x="16288" y="0"/>
                    <a:pt x="36381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328265" cy="139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sparse SAC +HER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5328584" y="13782490"/>
            <a:ext cx="4311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5838301" y="12372446"/>
            <a:ext cx="3668266" cy="831365"/>
            <a:chOff x="0" y="0"/>
            <a:chExt cx="328265" cy="743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8265" cy="74397"/>
            </a:xfrm>
            <a:custGeom>
              <a:avLst/>
              <a:gdLst/>
              <a:ahLst/>
              <a:cxnLst/>
              <a:rect r="r" b="b" t="t" l="l"/>
              <a:pathLst>
                <a:path h="74397" w="328265">
                  <a:moveTo>
                    <a:pt x="37199" y="0"/>
                  </a:moveTo>
                  <a:lnTo>
                    <a:pt x="291067" y="0"/>
                  </a:lnTo>
                  <a:cubicBezTo>
                    <a:pt x="311611" y="0"/>
                    <a:pt x="328265" y="16654"/>
                    <a:pt x="328265" y="37199"/>
                  </a:cubicBezTo>
                  <a:lnTo>
                    <a:pt x="328265" y="37199"/>
                  </a:lnTo>
                  <a:cubicBezTo>
                    <a:pt x="328265" y="57743"/>
                    <a:pt x="311611" y="74397"/>
                    <a:pt x="291067" y="74397"/>
                  </a:cubicBezTo>
                  <a:lnTo>
                    <a:pt x="37199" y="74397"/>
                  </a:lnTo>
                  <a:cubicBezTo>
                    <a:pt x="16654" y="74397"/>
                    <a:pt x="0" y="57743"/>
                    <a:pt x="0" y="37199"/>
                  </a:cubicBezTo>
                  <a:lnTo>
                    <a:pt x="0" y="37199"/>
                  </a:lnTo>
                  <a:cubicBezTo>
                    <a:pt x="0" y="16654"/>
                    <a:pt x="16654" y="0"/>
                    <a:pt x="37199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328265" cy="10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Mean final success</a:t>
              </a:r>
              <a:r>
                <a:rPr lang="en-US" sz="19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</a:p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90.7%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flipV="true">
            <a:off x="20479339" y="7396117"/>
            <a:ext cx="0" cy="72138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4069909" y="22925076"/>
            <a:ext cx="3005034" cy="88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Approach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939710" y="13337161"/>
            <a:ext cx="3350158" cy="715239"/>
            <a:chOff x="0" y="0"/>
            <a:chExt cx="299798" cy="6400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9798" cy="64005"/>
            </a:xfrm>
            <a:custGeom>
              <a:avLst/>
              <a:gdLst/>
              <a:ahLst/>
              <a:cxnLst/>
              <a:rect r="r" b="b" t="t" l="l"/>
              <a:pathLst>
                <a:path h="64005" w="299798">
                  <a:moveTo>
                    <a:pt x="32003" y="0"/>
                  </a:moveTo>
                  <a:lnTo>
                    <a:pt x="267796" y="0"/>
                  </a:lnTo>
                  <a:cubicBezTo>
                    <a:pt x="276283" y="0"/>
                    <a:pt x="284423" y="3372"/>
                    <a:pt x="290425" y="9373"/>
                  </a:cubicBezTo>
                  <a:cubicBezTo>
                    <a:pt x="296427" y="15375"/>
                    <a:pt x="299798" y="23515"/>
                    <a:pt x="299798" y="32003"/>
                  </a:cubicBezTo>
                  <a:lnTo>
                    <a:pt x="299798" y="32003"/>
                  </a:lnTo>
                  <a:cubicBezTo>
                    <a:pt x="299798" y="40490"/>
                    <a:pt x="296427" y="48630"/>
                    <a:pt x="290425" y="54632"/>
                  </a:cubicBezTo>
                  <a:cubicBezTo>
                    <a:pt x="284423" y="60633"/>
                    <a:pt x="276283" y="64005"/>
                    <a:pt x="267796" y="64005"/>
                  </a:cubicBezTo>
                  <a:lnTo>
                    <a:pt x="32003" y="64005"/>
                  </a:lnTo>
                  <a:cubicBezTo>
                    <a:pt x="23515" y="64005"/>
                    <a:pt x="15375" y="60633"/>
                    <a:pt x="9373" y="54632"/>
                  </a:cubicBezTo>
                  <a:cubicBezTo>
                    <a:pt x="3372" y="48630"/>
                    <a:pt x="0" y="40490"/>
                    <a:pt x="0" y="32003"/>
                  </a:cubicBezTo>
                  <a:lnTo>
                    <a:pt x="0" y="32003"/>
                  </a:lnTo>
                  <a:cubicBezTo>
                    <a:pt x="0" y="23515"/>
                    <a:pt x="3372" y="15375"/>
                    <a:pt x="9373" y="9373"/>
                  </a:cubicBezTo>
                  <a:cubicBezTo>
                    <a:pt x="15375" y="3372"/>
                    <a:pt x="23515" y="0"/>
                    <a:pt x="32003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299798" cy="92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seeds reached ≥90% success without HER 0/10</a:t>
              </a:r>
              <a:r>
                <a:rPr lang="en-US" b="true" sz="17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835161" y="13337161"/>
            <a:ext cx="3668266" cy="715239"/>
            <a:chOff x="0" y="0"/>
            <a:chExt cx="328265" cy="6400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8265" cy="64005"/>
            </a:xfrm>
            <a:custGeom>
              <a:avLst/>
              <a:gdLst/>
              <a:ahLst/>
              <a:cxnLst/>
              <a:rect r="r" b="b" t="t" l="l"/>
              <a:pathLst>
                <a:path h="64005" w="328265">
                  <a:moveTo>
                    <a:pt x="32003" y="0"/>
                  </a:moveTo>
                  <a:lnTo>
                    <a:pt x="296263" y="0"/>
                  </a:lnTo>
                  <a:cubicBezTo>
                    <a:pt x="304750" y="0"/>
                    <a:pt x="312890" y="3372"/>
                    <a:pt x="318892" y="9373"/>
                  </a:cubicBezTo>
                  <a:cubicBezTo>
                    <a:pt x="324893" y="15375"/>
                    <a:pt x="328265" y="23515"/>
                    <a:pt x="328265" y="32003"/>
                  </a:cubicBezTo>
                  <a:lnTo>
                    <a:pt x="328265" y="32003"/>
                  </a:lnTo>
                  <a:cubicBezTo>
                    <a:pt x="328265" y="40490"/>
                    <a:pt x="324893" y="48630"/>
                    <a:pt x="318892" y="54632"/>
                  </a:cubicBezTo>
                  <a:cubicBezTo>
                    <a:pt x="312890" y="60633"/>
                    <a:pt x="304750" y="64005"/>
                    <a:pt x="296263" y="64005"/>
                  </a:cubicBezTo>
                  <a:lnTo>
                    <a:pt x="32003" y="64005"/>
                  </a:lnTo>
                  <a:cubicBezTo>
                    <a:pt x="23515" y="64005"/>
                    <a:pt x="15375" y="60633"/>
                    <a:pt x="9373" y="54632"/>
                  </a:cubicBezTo>
                  <a:cubicBezTo>
                    <a:pt x="3372" y="48630"/>
                    <a:pt x="0" y="40490"/>
                    <a:pt x="0" y="32003"/>
                  </a:cubicBezTo>
                  <a:lnTo>
                    <a:pt x="0" y="32003"/>
                  </a:lnTo>
                  <a:cubicBezTo>
                    <a:pt x="0" y="23515"/>
                    <a:pt x="3372" y="15375"/>
                    <a:pt x="9373" y="9373"/>
                  </a:cubicBezTo>
                  <a:cubicBezTo>
                    <a:pt x="15375" y="3372"/>
                    <a:pt x="23515" y="0"/>
                    <a:pt x="32003" y="0"/>
                  </a:cubicBezTo>
                  <a:close/>
                </a:path>
              </a:pathLst>
            </a:custGeom>
            <a:solidFill>
              <a:srgbClr val="A9CAE4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28265" cy="92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seeds reached ≥90% success without HER 9/10</a:t>
              </a:r>
              <a:r>
                <a:rPr lang="en-US" b="true" sz="17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4624322" y="15038622"/>
            <a:ext cx="1896208" cy="90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TL;DR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84995" y="15055572"/>
            <a:ext cx="11477968" cy="19510408"/>
            <a:chOff x="0" y="0"/>
            <a:chExt cx="15303957" cy="26013878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93040"/>
              <a:ext cx="15297052" cy="25920838"/>
              <a:chOff x="0" y="0"/>
              <a:chExt cx="15297052" cy="25920838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5296961" cy="25920754"/>
              </a:xfrm>
              <a:custGeom>
                <a:avLst/>
                <a:gdLst/>
                <a:ahLst/>
                <a:cxnLst/>
                <a:rect r="r" b="b" t="t" l="l"/>
                <a:pathLst>
                  <a:path h="25920754" w="15296961">
                    <a:moveTo>
                      <a:pt x="0" y="0"/>
                    </a:moveTo>
                    <a:lnTo>
                      <a:pt x="15296961" y="0"/>
                    </a:lnTo>
                    <a:lnTo>
                      <a:pt x="15296961" y="25920754"/>
                    </a:lnTo>
                    <a:lnTo>
                      <a:pt x="0" y="25920754"/>
                    </a:lnTo>
                    <a:close/>
                  </a:path>
                </a:pathLst>
              </a:custGeom>
              <a:solidFill>
                <a:srgbClr val="FFFFFF"/>
              </a:solidFill>
              <a:ln w="6728" cap="sq">
                <a:solidFill>
                  <a:srgbClr val="595959"/>
                </a:solidFill>
                <a:prstDash val="solid"/>
                <a:miter/>
              </a:ln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6414" y="0"/>
              <a:ext cx="15297543" cy="1237637"/>
              <a:chOff x="0" y="0"/>
              <a:chExt cx="15297543" cy="1237637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5297507" cy="1237662"/>
              </a:xfrm>
              <a:custGeom>
                <a:avLst/>
                <a:gdLst/>
                <a:ahLst/>
                <a:cxnLst/>
                <a:rect r="r" b="b" t="t" l="l"/>
                <a:pathLst>
                  <a:path h="1237662" w="15297507">
                    <a:moveTo>
                      <a:pt x="0" y="0"/>
                    </a:moveTo>
                    <a:lnTo>
                      <a:pt x="15297507" y="0"/>
                    </a:lnTo>
                    <a:lnTo>
                      <a:pt x="15297507" y="1237662"/>
                    </a:lnTo>
                    <a:lnTo>
                      <a:pt x="0" y="1237662"/>
                    </a:lnTo>
                    <a:close/>
                  </a:path>
                </a:pathLst>
              </a:custGeom>
              <a:solidFill>
                <a:srgbClr val="0B5394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0"/>
                <a:ext cx="15297543" cy="1237637"/>
              </a:xfrm>
              <a:prstGeom prst="rect">
                <a:avLst/>
              </a:prstGeom>
            </p:spPr>
            <p:txBody>
              <a:bodyPr anchor="t" rtlCol="false" tIns="50800" lIns="50800" bIns="50800" rIns="50800"/>
              <a:lstStyle/>
              <a:p>
                <a:pPr algn="ctr">
                  <a:lnSpc>
                    <a:spcPts val="4407"/>
                  </a:lnSpc>
                </a:pPr>
                <a:r>
                  <a:rPr lang="en-US" b="true" sz="3672">
                    <a:solidFill>
                      <a:srgbClr val="FFFFFF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Approach</a:t>
                </a: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242550" y="36212"/>
              <a:ext cx="1067109" cy="1177901"/>
              <a:chOff x="0" y="0"/>
              <a:chExt cx="1067109" cy="1177901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067173" cy="1177951"/>
              </a:xfrm>
              <a:custGeom>
                <a:avLst/>
                <a:gdLst/>
                <a:ahLst/>
                <a:cxnLst/>
                <a:rect r="r" b="b" t="t" l="l"/>
                <a:pathLst>
                  <a:path h="1177951" w="1067173">
                    <a:moveTo>
                      <a:pt x="0" y="588991"/>
                    </a:moveTo>
                    <a:cubicBezTo>
                      <a:pt x="0" y="263760"/>
                      <a:pt x="238953" y="0"/>
                      <a:pt x="533509" y="0"/>
                    </a:cubicBezTo>
                    <a:cubicBezTo>
                      <a:pt x="828066" y="0"/>
                      <a:pt x="1067173" y="263760"/>
                      <a:pt x="1067173" y="588991"/>
                    </a:cubicBezTo>
                    <a:cubicBezTo>
                      <a:pt x="1067173" y="914221"/>
                      <a:pt x="828248" y="1177951"/>
                      <a:pt x="533509" y="1177951"/>
                    </a:cubicBezTo>
                    <a:cubicBezTo>
                      <a:pt x="238771" y="1177951"/>
                      <a:pt x="0" y="914221"/>
                      <a:pt x="0" y="588991"/>
                    </a:cubicBezTo>
                    <a:close/>
                  </a:path>
                </a:pathLst>
              </a:custGeom>
              <a:solidFill>
                <a:srgbClr val="F3F3F3"/>
              </a:solidFill>
              <a:ln w="672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0"/>
                <a:ext cx="1067109" cy="1177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68"/>
                  </a:lnSpc>
                </a:pPr>
                <a:r>
                  <a:rPr lang="en-US" sz="339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3</a:t>
                </a:r>
              </a:p>
            </p:txBody>
          </p:sp>
        </p:grpSp>
      </p:grpSp>
      <p:sp>
        <p:nvSpPr>
          <p:cNvPr name="TextBox 78" id="78"/>
          <p:cNvSpPr txBox="true"/>
          <p:nvPr/>
        </p:nvSpPr>
        <p:spPr>
          <a:xfrm rot="0">
            <a:off x="285598" y="16398187"/>
            <a:ext cx="10629468" cy="129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9" indent="-464185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FetchR</a:t>
            </a: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each-v3 (easy): 4 conditions [dense], [dense+HER], [sparse], [sparse+HER].</a:t>
            </a:r>
          </a:p>
          <a:p>
            <a:pPr algn="l" marL="928369" indent="-464185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FetchPush-v3 (hard): 2 conditions [sparse], [sparse+HER].</a:t>
            </a:r>
          </a:p>
          <a:p>
            <a:pPr algn="l" marL="928369" indent="-464185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SAC (Stable-Baselines3) + HerReplayBuffer, using the same hyperparameters across conditions.</a:t>
            </a:r>
          </a:p>
          <a:p>
            <a:pPr algn="l" marL="928369" indent="-464185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70 main runs total, with 10 seeds per main condition and 5 seeds per ablation setting.</a:t>
            </a:r>
          </a:p>
          <a:p>
            <a:pPr algn="l" marL="928369" indent="-464185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 SAC’s entropy coefficient α and the goal-distance distribution to study the training dynamics.</a:t>
            </a:r>
          </a:p>
          <a:p>
            <a:pPr algn="l" marL="928369" indent="-464185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HER ablation:</a:t>
            </a:r>
          </a:p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   </a:t>
            </a: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nsampled_goal ​∈ {1,4,8}</a:t>
            </a:r>
          </a:p>
          <a:p>
            <a:pPr algn="l">
              <a:lnSpc>
                <a:spcPts val="6019"/>
              </a:lnSpc>
            </a:pP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874921" y="28865765"/>
            <a:ext cx="10282041" cy="5468760"/>
          </a:xfrm>
          <a:custGeom>
            <a:avLst/>
            <a:gdLst/>
            <a:ahLst/>
            <a:cxnLst/>
            <a:rect r="r" b="b" t="t" l="l"/>
            <a:pathLst>
              <a:path h="5468760" w="10282041">
                <a:moveTo>
                  <a:pt x="0" y="0"/>
                </a:moveTo>
                <a:lnTo>
                  <a:pt x="10282041" y="0"/>
                </a:lnTo>
                <a:lnTo>
                  <a:pt x="10282041" y="5468760"/>
                </a:lnTo>
                <a:lnTo>
                  <a:pt x="0" y="546876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7560160" y="33882806"/>
            <a:ext cx="1756154" cy="565309"/>
            <a:chOff x="0" y="0"/>
            <a:chExt cx="157154" cy="505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7154" cy="50588"/>
            </a:xfrm>
            <a:custGeom>
              <a:avLst/>
              <a:gdLst/>
              <a:ahLst/>
              <a:cxnLst/>
              <a:rect r="r" b="b" t="t" l="l"/>
              <a:pathLst>
                <a:path h="50588" w="157154">
                  <a:moveTo>
                    <a:pt x="0" y="0"/>
                  </a:moveTo>
                  <a:lnTo>
                    <a:pt x="157154" y="0"/>
                  </a:lnTo>
                  <a:lnTo>
                    <a:pt x="157154" y="50588"/>
                  </a:lnTo>
                  <a:lnTo>
                    <a:pt x="0" y="505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57154" cy="79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FetchReach-v3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149523" y="33882806"/>
            <a:ext cx="1756154" cy="565309"/>
            <a:chOff x="0" y="0"/>
            <a:chExt cx="157154" cy="505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7154" cy="50588"/>
            </a:xfrm>
            <a:custGeom>
              <a:avLst/>
              <a:gdLst/>
              <a:ahLst/>
              <a:cxnLst/>
              <a:rect r="r" b="b" t="t" l="l"/>
              <a:pathLst>
                <a:path h="50588" w="157154">
                  <a:moveTo>
                    <a:pt x="0" y="0"/>
                  </a:moveTo>
                  <a:lnTo>
                    <a:pt x="157154" y="0"/>
                  </a:lnTo>
                  <a:lnTo>
                    <a:pt x="157154" y="50588"/>
                  </a:lnTo>
                  <a:lnTo>
                    <a:pt x="0" y="505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57154" cy="79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FetchPush-v3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84995" y="34906033"/>
            <a:ext cx="11477968" cy="7540322"/>
            <a:chOff x="0" y="0"/>
            <a:chExt cx="15303957" cy="10053762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90181"/>
              <a:ext cx="15303957" cy="9963581"/>
              <a:chOff x="0" y="0"/>
              <a:chExt cx="15001822" cy="9766877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15001787" cy="9766915"/>
              </a:xfrm>
              <a:custGeom>
                <a:avLst/>
                <a:gdLst/>
                <a:ahLst/>
                <a:cxnLst/>
                <a:rect r="r" b="b" t="t" l="l"/>
                <a:pathLst>
                  <a:path h="9766915" w="15001787">
                    <a:moveTo>
                      <a:pt x="0" y="0"/>
                    </a:moveTo>
                    <a:lnTo>
                      <a:pt x="15001787" y="0"/>
                    </a:lnTo>
                    <a:lnTo>
                      <a:pt x="15001787" y="9766915"/>
                    </a:lnTo>
                    <a:lnTo>
                      <a:pt x="0" y="9766915"/>
                    </a:lnTo>
                    <a:close/>
                  </a:path>
                </a:pathLst>
              </a:custGeom>
              <a:solidFill>
                <a:srgbClr val="FFFFFF"/>
              </a:solidFill>
              <a:ln w="6728" cap="sq">
                <a:solidFill>
                  <a:srgbClr val="595959"/>
                </a:solidFill>
                <a:prstDash val="solid"/>
                <a:miter/>
              </a:ln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0" y="0"/>
              <a:ext cx="15301542" cy="1124777"/>
              <a:chOff x="0" y="0"/>
              <a:chExt cx="14999455" cy="1102572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4999467" cy="1102512"/>
              </a:xfrm>
              <a:custGeom>
                <a:avLst/>
                <a:gdLst/>
                <a:ahLst/>
                <a:cxnLst/>
                <a:rect r="r" b="b" t="t" l="l"/>
                <a:pathLst>
                  <a:path h="1102512" w="14999467">
                    <a:moveTo>
                      <a:pt x="0" y="0"/>
                    </a:moveTo>
                    <a:lnTo>
                      <a:pt x="14999467" y="0"/>
                    </a:lnTo>
                    <a:lnTo>
                      <a:pt x="14999467" y="1102512"/>
                    </a:lnTo>
                    <a:lnTo>
                      <a:pt x="0" y="1102512"/>
                    </a:lnTo>
                    <a:close/>
                  </a:path>
                </a:pathLst>
              </a:custGeom>
              <a:solidFill>
                <a:srgbClr val="0B5394"/>
              </a:solidFill>
              <a:ln w="6728" cap="sq">
                <a:solidFill>
                  <a:srgbClr val="595959"/>
                </a:solidFill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0"/>
                <a:ext cx="14999455" cy="1102572"/>
              </a:xfrm>
              <a:prstGeom prst="rect">
                <a:avLst/>
              </a:prstGeom>
            </p:spPr>
            <p:txBody>
              <a:bodyPr anchor="t" rtlCol="false" tIns="50800" lIns="50800" bIns="50800" rIns="50800"/>
              <a:lstStyle/>
              <a:p>
                <a:pPr algn="ctr">
                  <a:lnSpc>
                    <a:spcPts val="4407"/>
                  </a:lnSpc>
                </a:pPr>
                <a:r>
                  <a:rPr lang="en-US" b="true" sz="3672">
                    <a:solidFill>
                      <a:srgbClr val="FFFFFF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Future Works</a:t>
                </a: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242410" y="12510"/>
              <a:ext cx="1066493" cy="1052634"/>
              <a:chOff x="0" y="0"/>
              <a:chExt cx="1045438" cy="1031852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045501" cy="1031903"/>
              </a:xfrm>
              <a:custGeom>
                <a:avLst/>
                <a:gdLst/>
                <a:ahLst/>
                <a:cxnLst/>
                <a:rect r="r" b="b" t="t" l="l"/>
                <a:pathLst>
                  <a:path h="1031903" w="1045501">
                    <a:moveTo>
                      <a:pt x="0" y="515961"/>
                    </a:moveTo>
                    <a:cubicBezTo>
                      <a:pt x="0" y="231056"/>
                      <a:pt x="234100" y="0"/>
                      <a:pt x="522674" y="0"/>
                    </a:cubicBezTo>
                    <a:cubicBezTo>
                      <a:pt x="811249" y="0"/>
                      <a:pt x="1045501" y="231056"/>
                      <a:pt x="1045501" y="515961"/>
                    </a:cubicBezTo>
                    <a:cubicBezTo>
                      <a:pt x="1045501" y="800866"/>
                      <a:pt x="811427" y="1031903"/>
                      <a:pt x="522674" y="1031903"/>
                    </a:cubicBezTo>
                    <a:cubicBezTo>
                      <a:pt x="233922" y="1031903"/>
                      <a:pt x="0" y="800866"/>
                      <a:pt x="0" y="515961"/>
                    </a:cubicBezTo>
                    <a:close/>
                  </a:path>
                </a:pathLst>
              </a:custGeom>
              <a:solidFill>
                <a:srgbClr val="F3F3F3"/>
              </a:solidFill>
              <a:ln w="672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0"/>
                <a:ext cx="1045438" cy="10318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68"/>
                  </a:lnSpc>
                </a:pPr>
                <a:r>
                  <a:rPr lang="en-US" sz="339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5</a:t>
                </a:r>
              </a:p>
            </p:txBody>
          </p:sp>
        </p:grpSp>
      </p:grpSp>
      <p:sp>
        <p:nvSpPr>
          <p:cNvPr name="Freeform 95" id="95"/>
          <p:cNvSpPr/>
          <p:nvPr/>
        </p:nvSpPr>
        <p:spPr>
          <a:xfrm flipH="false" flipV="false" rot="0">
            <a:off x="15742555" y="26204740"/>
            <a:ext cx="10208102" cy="6627335"/>
          </a:xfrm>
          <a:custGeom>
            <a:avLst/>
            <a:gdLst/>
            <a:ahLst/>
            <a:cxnLst/>
            <a:rect r="r" b="b" t="t" l="l"/>
            <a:pathLst>
              <a:path h="6627335" w="10208102">
                <a:moveTo>
                  <a:pt x="0" y="0"/>
                </a:moveTo>
                <a:lnTo>
                  <a:pt x="10208102" y="0"/>
                </a:lnTo>
                <a:lnTo>
                  <a:pt x="10208102" y="6627335"/>
                </a:lnTo>
                <a:lnTo>
                  <a:pt x="0" y="662733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99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5667463" y="35349689"/>
            <a:ext cx="10498265" cy="6748885"/>
          </a:xfrm>
          <a:custGeom>
            <a:avLst/>
            <a:gdLst/>
            <a:ahLst/>
            <a:cxnLst/>
            <a:rect r="r" b="b" t="t" l="l"/>
            <a:pathLst>
              <a:path h="6748885" w="10498265">
                <a:moveTo>
                  <a:pt x="0" y="0"/>
                </a:moveTo>
                <a:lnTo>
                  <a:pt x="10498265" y="0"/>
                </a:lnTo>
                <a:lnTo>
                  <a:pt x="10498265" y="6748884"/>
                </a:lnTo>
                <a:lnTo>
                  <a:pt x="0" y="67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616763" y="38616330"/>
            <a:ext cx="3252915" cy="3252915"/>
          </a:xfrm>
          <a:custGeom>
            <a:avLst/>
            <a:gdLst/>
            <a:ahLst/>
            <a:cxnLst/>
            <a:rect r="r" b="b" t="t" l="l"/>
            <a:pathLst>
              <a:path h="3252915" w="3252915">
                <a:moveTo>
                  <a:pt x="0" y="0"/>
                </a:moveTo>
                <a:lnTo>
                  <a:pt x="3252914" y="0"/>
                </a:lnTo>
                <a:lnTo>
                  <a:pt x="3252914" y="3252914"/>
                </a:lnTo>
                <a:lnTo>
                  <a:pt x="0" y="325291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12072328" y="18658641"/>
            <a:ext cx="8844267" cy="5685600"/>
          </a:xfrm>
          <a:custGeom>
            <a:avLst/>
            <a:gdLst/>
            <a:ahLst/>
            <a:cxnLst/>
            <a:rect r="r" b="b" t="t" l="l"/>
            <a:pathLst>
              <a:path h="5685600" w="8844267">
                <a:moveTo>
                  <a:pt x="0" y="0"/>
                </a:moveTo>
                <a:lnTo>
                  <a:pt x="8844267" y="0"/>
                </a:lnTo>
                <a:lnTo>
                  <a:pt x="8844267" y="5685600"/>
                </a:lnTo>
                <a:lnTo>
                  <a:pt x="0" y="56856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20846606" y="18666932"/>
            <a:ext cx="8831371" cy="5677310"/>
          </a:xfrm>
          <a:custGeom>
            <a:avLst/>
            <a:gdLst/>
            <a:ahLst/>
            <a:cxnLst/>
            <a:rect r="r" b="b" t="t" l="l"/>
            <a:pathLst>
              <a:path h="5677310" w="8831371">
                <a:moveTo>
                  <a:pt x="0" y="0"/>
                </a:moveTo>
                <a:lnTo>
                  <a:pt x="8831370" y="0"/>
                </a:lnTo>
                <a:lnTo>
                  <a:pt x="8831370" y="5677309"/>
                </a:lnTo>
                <a:lnTo>
                  <a:pt x="0" y="567730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TextBox 100" id="100"/>
          <p:cNvSpPr txBox="true"/>
          <p:nvPr/>
        </p:nvSpPr>
        <p:spPr>
          <a:xfrm rot="0">
            <a:off x="18985411" y="14997903"/>
            <a:ext cx="3939931" cy="90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Insights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6375704" y="6336725"/>
            <a:ext cx="9265482" cy="90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Motivation &amp; Problem Setting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2268324" y="6371501"/>
            <a:ext cx="373075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2268324" y="15036698"/>
            <a:ext cx="373075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378604" y="16379095"/>
            <a:ext cx="15088216" cy="206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Insight 1: </a:t>
            </a: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HER matters more on the harder task</a:t>
            </a:r>
          </a:p>
          <a:p>
            <a:pPr algn="l" marL="798833" indent="-399416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HER is a modest speedup on FetchReach, but much more important on FetchPush.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464329" y="7788973"/>
            <a:ext cx="2767841" cy="75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Motivation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363107" y="8554784"/>
            <a:ext cx="8030507" cy="529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4" indent="-367032" lvl="1">
              <a:lnSpc>
                <a:spcPts val="469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Sparse rewards provide very little learning signal, which makes successful behavior hard to discover. </a:t>
            </a:r>
            <a:r>
              <a:rPr lang="en-US" sz="3400">
                <a:solidFill>
                  <a:srgbClr val="9E9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[Andrychowicz et al., HER, 2017]</a:t>
            </a:r>
          </a:p>
          <a:p>
            <a:pPr algn="l" marL="734064" indent="-367032" lvl="1">
              <a:lnSpc>
                <a:spcPts val="469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SAC can spend many steps learning from failed experiences.</a:t>
            </a:r>
          </a:p>
          <a:p>
            <a:pPr algn="l" marL="734064" indent="-367032" lvl="1">
              <a:lnSpc>
                <a:spcPts val="469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HER reuses failed experiences by changing the goal to one that was actually reached.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0810606" y="7779448"/>
            <a:ext cx="4229471" cy="7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1"/>
              </a:lnSpc>
            </a:pP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Setting 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334223" y="517789"/>
            <a:ext cx="19431001" cy="396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When and Why Does H</a:t>
            </a:r>
            <a:r>
              <a:rPr lang="en-US" b="true" sz="7500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indsight</a:t>
            </a:r>
          </a:p>
          <a:p>
            <a:pPr algn="l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Experience Replay Improve Soft</a:t>
            </a:r>
          </a:p>
          <a:p>
            <a:pPr algn="l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Actor-Critic under Sparse Rewards?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34223" y="4490752"/>
            <a:ext cx="17964183" cy="135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3"/>
              </a:lnSpc>
            </a:pPr>
            <a:r>
              <a:rPr lang="en-US" b="true" sz="4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Author(s): Mustafa Asfari, Mohammad Alkhozami</a:t>
            </a:r>
          </a:p>
          <a:p>
            <a:pPr algn="l">
              <a:lnSpc>
                <a:spcPts val="5403"/>
              </a:lnSpc>
            </a:pPr>
            <a:r>
              <a:rPr lang="en-US" b="true" sz="4100">
                <a:solidFill>
                  <a:srgbClr val="9E9E9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Poster Presentations in context of ADRL Lecture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4957696" y="6299749"/>
            <a:ext cx="1896208" cy="90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TL;DR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646982" y="7663107"/>
            <a:ext cx="1977942" cy="46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b="true" sz="269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</a:t>
            </a:r>
            <a:r>
              <a:rPr lang="en-US" b="true" sz="269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etchReach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993910" y="6336306"/>
            <a:ext cx="1896208" cy="90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TL;DR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918941" y="9262504"/>
            <a:ext cx="1306970" cy="30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2.75×</a:t>
            </a: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faster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618261" y="10902776"/>
            <a:ext cx="2006663" cy="4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b="true" sz="269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</a:t>
            </a:r>
            <a:r>
              <a:rPr lang="en-US" b="true" sz="269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etchPush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20633839" y="8533551"/>
            <a:ext cx="9162283" cy="470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4" indent="-367032" lvl="1">
              <a:lnSpc>
                <a:spcPts val="469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pare easy FetchReach-v3 vs. harder Fet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ch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Push-v3.</a:t>
            </a:r>
          </a:p>
          <a:p>
            <a:pPr algn="l" marL="734064" indent="-367032" lvl="1">
              <a:lnSpc>
                <a:spcPts val="469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mpar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 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rse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SAC vs. sparse SAC + HER.</a:t>
            </a:r>
          </a:p>
          <a:p>
            <a:pPr algn="l" marL="734064" indent="-367032" lvl="1">
              <a:lnSpc>
                <a:spcPts val="469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Ask:</a:t>
            </a:r>
          </a:p>
          <a:p>
            <a:pPr algn="l">
              <a:lnSpc>
                <a:spcPts val="4692"/>
              </a:lnSpc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When does HER matter most?</a:t>
            </a:r>
          </a:p>
          <a:p>
            <a:pPr algn="l">
              <a:lnSpc>
                <a:spcPts val="4692"/>
              </a:lnSpc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Why does it help?</a:t>
            </a:r>
          </a:p>
          <a:p>
            <a:pPr algn="l">
              <a:lnSpc>
                <a:spcPts val="4692"/>
              </a:lnSpc>
            </a:pPr>
            <a:r>
              <a:rPr lang="en-US" sz="3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Does more relabeling always help?</a:t>
            </a:r>
          </a:p>
          <a:p>
            <a:pPr algn="l">
              <a:lnSpc>
                <a:spcPts val="4692"/>
              </a:lnSpc>
            </a:pPr>
          </a:p>
        </p:txBody>
      </p:sp>
      <p:sp>
        <p:nvSpPr>
          <p:cNvPr name="TextBox 116" id="116"/>
          <p:cNvSpPr txBox="true"/>
          <p:nvPr/>
        </p:nvSpPr>
        <p:spPr>
          <a:xfrm rot="0">
            <a:off x="652763" y="6408477"/>
            <a:ext cx="365729" cy="81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2363107" y="24477591"/>
            <a:ext cx="16930427" cy="140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Insight 2: </a:t>
            </a: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HER is linked to healthier entropy dynamics</a:t>
            </a:r>
          </a:p>
          <a:p>
            <a:pPr algn="l" marL="798833" indent="-399416" lvl="1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 FetchPush, SAC without HER becomes low-entropy while it is still failing.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2384233" y="32772858"/>
            <a:ext cx="15088216" cy="22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Insight 3: More relabeling</a:t>
            </a:r>
            <a:r>
              <a:rPr lang="en-US" b="true" sz="4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is not always better</a:t>
            </a:r>
          </a:p>
          <a:p>
            <a:pPr algn="l" marL="928369" indent="-464185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Increasing HER relabeling helps mainly with speed, not final performance.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85598" y="35981981"/>
            <a:ext cx="10146517" cy="2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645" indent="-393823" lvl="1">
              <a:lnSpc>
                <a:spcPts val="5034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Cleaner curriculum metric (real-goal-only</a:t>
            </a:r>
          </a:p>
          <a:p>
            <a:pPr algn="l" marL="787645" indent="-393823" lvl="1">
              <a:lnSpc>
                <a:spcPts val="5034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transitions) for Push</a:t>
            </a:r>
          </a:p>
          <a:p>
            <a:pPr algn="l" marL="787645" indent="-393823" lvl="1">
              <a:lnSpc>
                <a:spcPts val="5034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a harder Fetch task</a:t>
            </a:r>
          </a:p>
          <a:p>
            <a:pPr algn="l" marL="787645" indent="-393823" lvl="1">
              <a:lnSpc>
                <a:spcPts val="5034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Statistical si</a:t>
            </a:r>
            <a:r>
              <a:rPr lang="en-US" sz="364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gnificance across seeds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114941" y="40293637"/>
            <a:ext cx="7417763" cy="147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pc="5">
                <a:solidFill>
                  <a:srgbClr val="0B539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Code, data &amp; full report</a:t>
            </a:r>
          </a:p>
          <a:p>
            <a:pPr algn="l">
              <a:lnSpc>
                <a:spcPts val="3920"/>
              </a:lnSpc>
            </a:pPr>
            <a:r>
              <a:rPr lang="en-US" sz="280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gith</a:t>
            </a:r>
            <a:r>
              <a:rPr lang="en-US" sz="2800" spc="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ub.com/mustafa99705/-adrl-sac-her-fetchreach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DAHS6Ezwkqw</dc:identifier>
  <dcterms:modified xsi:type="dcterms:W3CDTF">2011-08-01T06:04:30Z</dcterms:modified>
  <cp:revision>1</cp:revision>
  <dc:title>Poster Template Students.pdf</dc:title>
</cp:coreProperties>
</file>